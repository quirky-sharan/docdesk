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starts in the browser, a React 19 app built with Vite and styled with Tailwind CSS; three.js and GSAP drive the 3D views and the motion. Sign-in is handled by Firebase Authentication, with email and password or with Google. The browser calls a REST API on a Node.js and Express 5 server, which also produces PDF receipts with PDFKit, Excel exports with ExcelJS and takes file uploads with Multer. The server talks to PostgreSQL in SQL, inside transactions. The database is the core of the project: more than 40 tables tied together by foreign keys and CHECK constraints, and more than 40 triggers. When a sale is saved, triggers move the stock, write a row in the stock ledger, work out whether the sale is paid and record the change in the audit trail, all in the same transaction. Reports read from views and SQL functions, search uses trigram indexes so it tolerates typos, and the schema is built by versioned migrations. The same SQL runs on an embedded PostgreSQL (PGlite) on a laptop or on a hosted PostgreSQL server through the pg driver. Receptionist AI sends the owner's request to a language model through a gateway (Groq), and it can only act by calling the same API, so every database rule applies to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rgbClr val="F5F5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89888" y="420624"/>
            <a:ext cx="10241280" cy="384048"/>
          </a:xfrm>
          <a:prstGeom prst="rect">
            <a:avLst/>
          </a:prstGeom>
          <a:noFill/>
          <a:ln/>
        </p:spPr>
        <p:txBody>
          <a:bodyPr wrap="square" rtlCol="0"/>
          <a:lstStyle>
            <a:lvl1pPr algn="l" indent="0" marL="0">
              <a:buNone/>
              <a:defRPr lang="en-US" sz="2200" b="1" dirty="0">
                <a:solidFill>
                  <a:schemeClr val="tx1"/>
                </a:solidFill>
              </a:defRPr>
            </a:lvl1pPr>
          </a:lstStyle>
          <a:p>
            <a:pPr algn="l"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cDesk mark"/>
          <p:cNvSpPr/>
          <p:nvPr/>
        </p:nvSpPr>
        <p:spPr>
          <a:xfrm>
            <a:off x="548640" y="448056"/>
            <a:ext cx="676656" cy="676656"/>
          </a:xfrm>
          <a:prstGeom prst="roundRect">
            <a:avLst>
              <a:gd name="adj" fmla="val 24324"/>
            </a:avLst>
          </a:prstGeom>
          <a:solidFill>
            <a:schemeClr val="accent1"/>
          </a:solidFill>
          <a:ln/>
        </p:spPr>
      </p:sp>
      <p:pic>
        <p:nvPicPr>
          <p:cNvPr id="3" name="Image 0" descr="DocDesk front desk bell">    </p:cNvPr>
          <p:cNvPicPr>
            <a:picLocks noChangeAspect="1"/>
          </p:cNvPicPr>
          <p:nvPr/>
        </p:nvPicPr>
        <p:blipFill>
          <a:blip r:embed="rId1"/>
          <a:stretch>
            <a:fillRect/>
          </a:stretch>
        </p:blipFill>
        <p:spPr>
          <a:xfrm>
            <a:off x="694944" y="594360"/>
            <a:ext cx="384048" cy="384048"/>
          </a:xfrm>
          <a:prstGeom prst="rect">
            <a:avLst/>
          </a:prstGeom>
        </p:spPr>
      </p:pic>
      <p:sp>
        <p:nvSpPr>
          <p:cNvPr id="4" name="Text 0"/>
          <p:cNvSpPr/>
          <p:nvPr>
            <p:ph idx="100" type="title" hasCustomPrompt="1"/>
          </p:nvPr>
        </p:nvSpPr>
        <p:spPr>
          <a:xfrm>
            <a:off x="1389888" y="420624"/>
            <a:ext cx="10241280" cy="384048"/>
          </a:xfrm>
          <a:prstGeom prst="rect">
            <a:avLst/>
          </a:prstGeom>
          <a:noFill/>
          <a:ln/>
        </p:spPr>
        <p:txBody>
          <a:bodyPr wrap="square" lIns="0" tIns="0" rIns="0" bIns="0" rtlCol="0" anchor="ctr"/>
          <a:lstStyle/>
          <a:p>
            <a:pPr algn="l" indent="0" marL="0">
              <a:buNone/>
            </a:pPr>
            <a:r>
              <a:rPr lang="en-US" sz="2200" b="1" dirty="0">
                <a:solidFill>
                  <a:schemeClr val="tx1"/>
                </a:solidFill>
              </a:rPr>
              <a:t>DocDesk: system architecture</a:t>
            </a:r>
            <a:endParaRPr lang="en-US" sz="2200" dirty="0"/>
          </a:p>
        </p:txBody>
      </p:sp>
      <p:sp>
        <p:nvSpPr>
          <p:cNvPr id="5" name="Subtitle"/>
          <p:cNvSpPr txBox="1"/>
          <p:nvPr/>
        </p:nvSpPr>
        <p:spPr>
          <a:xfrm>
            <a:off x="1389888" y="804672"/>
            <a:ext cx="10241280" cy="329184"/>
          </a:xfrm>
          <a:prstGeom prst="rect">
            <a:avLst/>
          </a:prstGeom>
          <a:noFill/>
          <a:ln/>
        </p:spPr>
        <p:txBody>
          <a:bodyPr wrap="square" lIns="0" tIns="0" rIns="0" bIns="0" rtlCol="0" anchor="ctr"/>
          <a:lstStyle/>
          <a:p>
            <a:pPr algn="l" indent="0" marL="0">
              <a:buNone/>
            </a:pPr>
            <a:r>
              <a:rPr lang="en-US" sz="1800" dirty="0">
                <a:solidFill>
                  <a:schemeClr val="tx2"/>
                </a:solidFill>
              </a:rPr>
              <a:t>How a request travels from the screen to a database that enforces its own rules</a:t>
            </a:r>
            <a:endParaRPr lang="en-US" sz="1800" dirty="0"/>
          </a:p>
        </p:txBody>
      </p:sp>
      <p:sp>
        <p:nvSpPr>
          <p:cNvPr id="6" name="Browser card"/>
          <p:cNvSpPr/>
          <p:nvPr/>
        </p:nvSpPr>
        <p:spPr>
          <a:xfrm>
            <a:off x="548640" y="1572768"/>
            <a:ext cx="2560320" cy="2084832"/>
          </a:xfrm>
          <a:prstGeom prst="roundRect">
            <a:avLst>
              <a:gd name="adj" fmla="val 7018"/>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7" name="Browser circle"/>
          <p:cNvSpPr/>
          <p:nvPr/>
        </p:nvSpPr>
        <p:spPr>
          <a:xfrm>
            <a:off x="749808" y="1792224"/>
            <a:ext cx="457200" cy="457200"/>
          </a:xfrm>
          <a:prstGeom prst="ellipse">
            <a:avLst/>
          </a:prstGeom>
          <a:solidFill>
            <a:schemeClr val="accent1">
              <a:alpha val="14000"/>
            </a:schemeClr>
          </a:solidFill>
          <a:ln/>
        </p:spPr>
      </p:sp>
      <p:pic>
        <p:nvPicPr>
          <p:cNvPr id="8" name="Image 1" descr="Browser icon">    </p:cNvPr>
          <p:cNvPicPr>
            <a:picLocks noChangeAspect="1"/>
          </p:cNvPicPr>
          <p:nvPr/>
        </p:nvPicPr>
        <p:blipFill>
          <a:blip r:embed="rId2"/>
          <a:stretch>
            <a:fillRect/>
          </a:stretch>
        </p:blipFill>
        <p:spPr>
          <a:xfrm>
            <a:off x="859536" y="1901952"/>
            <a:ext cx="237744" cy="237744"/>
          </a:xfrm>
          <a:prstGeom prst="rect">
            <a:avLst/>
          </a:prstGeom>
        </p:spPr>
      </p:pic>
      <p:sp>
        <p:nvSpPr>
          <p:cNvPr id="9" name="Browser"/>
          <p:cNvSpPr txBox="1"/>
          <p:nvPr/>
        </p:nvSpPr>
        <p:spPr>
          <a:xfrm>
            <a:off x="1316736" y="1792224"/>
            <a:ext cx="1755648" cy="457200"/>
          </a:xfrm>
          <a:prstGeom prst="rect">
            <a:avLst/>
          </a:prstGeom>
          <a:noFill/>
          <a:ln/>
        </p:spPr>
        <p:txBody>
          <a:bodyPr wrap="square" lIns="0" tIns="0" rIns="0" bIns="0" rtlCol="0" anchor="ctr"/>
          <a:lstStyle/>
          <a:p>
            <a:pPr algn="l" indent="0" marL="0">
              <a:buNone/>
            </a:pPr>
            <a:r>
              <a:rPr lang="en-US" sz="2000" b="1" dirty="0">
                <a:solidFill>
                  <a:schemeClr val="tx1"/>
                </a:solidFill>
              </a:rPr>
              <a:t>Browser</a:t>
            </a:r>
            <a:endParaRPr lang="en-US" sz="2000" dirty="0"/>
          </a:p>
        </p:txBody>
      </p:sp>
      <p:sp>
        <p:nvSpPr>
          <p:cNvPr id="10" name="Browser: React 19 + Vite"/>
          <p:cNvSpPr txBox="1"/>
          <p:nvPr/>
        </p:nvSpPr>
        <p:spPr>
          <a:xfrm>
            <a:off x="786384" y="2450592"/>
            <a:ext cx="2121408" cy="329184"/>
          </a:xfrm>
          <a:prstGeom prst="rect">
            <a:avLst/>
          </a:prstGeom>
          <a:noFill/>
          <a:ln/>
        </p:spPr>
        <p:txBody>
          <a:bodyPr wrap="square" lIns="0" tIns="0" rIns="0" bIns="0" rtlCol="0" anchor="ctr"/>
          <a:lstStyle/>
          <a:p>
            <a:pPr algn="l" indent="0" marL="0">
              <a:buNone/>
            </a:pPr>
            <a:r>
              <a:rPr lang="en-US" sz="1800" dirty="0">
                <a:solidFill>
                  <a:schemeClr val="tx1"/>
                </a:solidFill>
              </a:rPr>
              <a:t>React 19 + Vite</a:t>
            </a:r>
            <a:endParaRPr lang="en-US" sz="1800" dirty="0"/>
          </a:p>
        </p:txBody>
      </p:sp>
      <p:sp>
        <p:nvSpPr>
          <p:cNvPr id="11" name="Browser: Tailwind CSS"/>
          <p:cNvSpPr txBox="1"/>
          <p:nvPr/>
        </p:nvSpPr>
        <p:spPr>
          <a:xfrm>
            <a:off x="786384" y="2798064"/>
            <a:ext cx="2121408" cy="329184"/>
          </a:xfrm>
          <a:prstGeom prst="rect">
            <a:avLst/>
          </a:prstGeom>
          <a:noFill/>
          <a:ln/>
        </p:spPr>
        <p:txBody>
          <a:bodyPr wrap="square" lIns="0" tIns="0" rIns="0" bIns="0" rtlCol="0" anchor="ctr"/>
          <a:lstStyle/>
          <a:p>
            <a:pPr algn="l" indent="0" marL="0">
              <a:buNone/>
            </a:pPr>
            <a:r>
              <a:rPr lang="en-US" sz="1800" dirty="0">
                <a:solidFill>
                  <a:schemeClr val="tx1"/>
                </a:solidFill>
              </a:rPr>
              <a:t>Tailwind CSS</a:t>
            </a:r>
            <a:endParaRPr lang="en-US" sz="1800" dirty="0"/>
          </a:p>
        </p:txBody>
      </p:sp>
      <p:sp>
        <p:nvSpPr>
          <p:cNvPr id="12" name="Browser: three.js + GSAP"/>
          <p:cNvSpPr txBox="1"/>
          <p:nvPr/>
        </p:nvSpPr>
        <p:spPr>
          <a:xfrm>
            <a:off x="786384" y="3145536"/>
            <a:ext cx="2121408" cy="329184"/>
          </a:xfrm>
          <a:prstGeom prst="rect">
            <a:avLst/>
          </a:prstGeom>
          <a:noFill/>
          <a:ln/>
        </p:spPr>
        <p:txBody>
          <a:bodyPr wrap="square" lIns="0" tIns="0" rIns="0" bIns="0" rtlCol="0" anchor="ctr"/>
          <a:lstStyle/>
          <a:p>
            <a:pPr algn="l" indent="0" marL="0">
              <a:buNone/>
            </a:pPr>
            <a:r>
              <a:rPr lang="en-US" sz="1800" dirty="0">
                <a:solidFill>
                  <a:schemeClr val="tx1"/>
                </a:solidFill>
              </a:rPr>
              <a:t>three.js + GSAP</a:t>
            </a:r>
            <a:endParaRPr lang="en-US" sz="1800" dirty="0"/>
          </a:p>
        </p:txBody>
      </p:sp>
      <p:sp>
        <p:nvSpPr>
          <p:cNvPr id="13" name="API server card"/>
          <p:cNvSpPr/>
          <p:nvPr/>
        </p:nvSpPr>
        <p:spPr>
          <a:xfrm>
            <a:off x="3886200" y="1572768"/>
            <a:ext cx="2606040" cy="2084832"/>
          </a:xfrm>
          <a:prstGeom prst="roundRect">
            <a:avLst>
              <a:gd name="adj" fmla="val 7018"/>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14" name="API server circle"/>
          <p:cNvSpPr/>
          <p:nvPr/>
        </p:nvSpPr>
        <p:spPr>
          <a:xfrm>
            <a:off x="4087368" y="1792224"/>
            <a:ext cx="457200" cy="457200"/>
          </a:xfrm>
          <a:prstGeom prst="ellipse">
            <a:avLst/>
          </a:prstGeom>
          <a:solidFill>
            <a:schemeClr val="accent1">
              <a:alpha val="14000"/>
            </a:schemeClr>
          </a:solidFill>
          <a:ln/>
        </p:spPr>
      </p:sp>
      <p:pic>
        <p:nvPicPr>
          <p:cNvPr id="15" name="Image 2" descr="API server icon">    </p:cNvPr>
          <p:cNvPicPr>
            <a:picLocks noChangeAspect="1"/>
          </p:cNvPicPr>
          <p:nvPr/>
        </p:nvPicPr>
        <p:blipFill>
          <a:blip r:embed="rId3"/>
          <a:stretch>
            <a:fillRect/>
          </a:stretch>
        </p:blipFill>
        <p:spPr>
          <a:xfrm>
            <a:off x="4197096" y="1901952"/>
            <a:ext cx="237744" cy="237744"/>
          </a:xfrm>
          <a:prstGeom prst="rect">
            <a:avLst/>
          </a:prstGeom>
        </p:spPr>
      </p:pic>
      <p:sp>
        <p:nvSpPr>
          <p:cNvPr id="16" name="API server"/>
          <p:cNvSpPr txBox="1"/>
          <p:nvPr/>
        </p:nvSpPr>
        <p:spPr>
          <a:xfrm>
            <a:off x="4654296" y="1792224"/>
            <a:ext cx="1801368" cy="457200"/>
          </a:xfrm>
          <a:prstGeom prst="rect">
            <a:avLst/>
          </a:prstGeom>
          <a:noFill/>
          <a:ln/>
        </p:spPr>
        <p:txBody>
          <a:bodyPr wrap="square" lIns="0" tIns="0" rIns="0" bIns="0" rtlCol="0" anchor="ctr"/>
          <a:lstStyle/>
          <a:p>
            <a:pPr algn="l" indent="0" marL="0">
              <a:buNone/>
            </a:pPr>
            <a:r>
              <a:rPr lang="en-US" sz="2000" b="1" dirty="0">
                <a:solidFill>
                  <a:schemeClr val="tx1"/>
                </a:solidFill>
              </a:rPr>
              <a:t>API server</a:t>
            </a:r>
            <a:endParaRPr lang="en-US" sz="2000" dirty="0"/>
          </a:p>
        </p:txBody>
      </p:sp>
      <p:sp>
        <p:nvSpPr>
          <p:cNvPr id="17" name="API server: Node.js + Express 5"/>
          <p:cNvSpPr txBox="1"/>
          <p:nvPr/>
        </p:nvSpPr>
        <p:spPr>
          <a:xfrm>
            <a:off x="4123944" y="2450592"/>
            <a:ext cx="2167128" cy="329184"/>
          </a:xfrm>
          <a:prstGeom prst="rect">
            <a:avLst/>
          </a:prstGeom>
          <a:noFill/>
          <a:ln/>
        </p:spPr>
        <p:txBody>
          <a:bodyPr wrap="square" lIns="0" tIns="0" rIns="0" bIns="0" rtlCol="0" anchor="ctr"/>
          <a:lstStyle/>
          <a:p>
            <a:pPr algn="l" indent="0" marL="0">
              <a:buNone/>
            </a:pPr>
            <a:r>
              <a:rPr lang="en-US" sz="1800" dirty="0">
                <a:solidFill>
                  <a:schemeClr val="tx1"/>
                </a:solidFill>
              </a:rPr>
              <a:t>Node.js + Express 5</a:t>
            </a:r>
            <a:endParaRPr lang="en-US" sz="1800" dirty="0"/>
          </a:p>
        </p:txBody>
      </p:sp>
      <p:sp>
        <p:nvSpPr>
          <p:cNvPr id="18" name="API server: PDFKit + ExcelJS"/>
          <p:cNvSpPr txBox="1"/>
          <p:nvPr/>
        </p:nvSpPr>
        <p:spPr>
          <a:xfrm>
            <a:off x="4123944" y="2798064"/>
            <a:ext cx="2167128" cy="329184"/>
          </a:xfrm>
          <a:prstGeom prst="rect">
            <a:avLst/>
          </a:prstGeom>
          <a:noFill/>
          <a:ln/>
        </p:spPr>
        <p:txBody>
          <a:bodyPr wrap="square" lIns="0" tIns="0" rIns="0" bIns="0" rtlCol="0" anchor="ctr"/>
          <a:lstStyle/>
          <a:p>
            <a:pPr algn="l" indent="0" marL="0">
              <a:buNone/>
            </a:pPr>
            <a:r>
              <a:rPr lang="en-US" sz="1800" dirty="0">
                <a:solidFill>
                  <a:schemeClr val="tx1"/>
                </a:solidFill>
              </a:rPr>
              <a:t>PDFKit + ExcelJS</a:t>
            </a:r>
            <a:endParaRPr lang="en-US" sz="1800" dirty="0"/>
          </a:p>
        </p:txBody>
      </p:sp>
      <p:sp>
        <p:nvSpPr>
          <p:cNvPr id="19" name="API server: Multer uploads"/>
          <p:cNvSpPr txBox="1"/>
          <p:nvPr/>
        </p:nvSpPr>
        <p:spPr>
          <a:xfrm>
            <a:off x="4123944" y="3145536"/>
            <a:ext cx="2167128" cy="329184"/>
          </a:xfrm>
          <a:prstGeom prst="rect">
            <a:avLst/>
          </a:prstGeom>
          <a:noFill/>
          <a:ln/>
        </p:spPr>
        <p:txBody>
          <a:bodyPr wrap="square" lIns="0" tIns="0" rIns="0" bIns="0" rtlCol="0" anchor="ctr"/>
          <a:lstStyle/>
          <a:p>
            <a:pPr algn="l" indent="0" marL="0">
              <a:buNone/>
            </a:pPr>
            <a:r>
              <a:rPr lang="en-US" sz="1800" dirty="0">
                <a:solidFill>
                  <a:schemeClr val="tx1"/>
                </a:solidFill>
              </a:rPr>
              <a:t>Multer uploads</a:t>
            </a:r>
            <a:endParaRPr lang="en-US" sz="1800" dirty="0"/>
          </a:p>
        </p:txBody>
      </p:sp>
      <p:sp>
        <p:nvSpPr>
          <p:cNvPr id="20" name="Firebase Auth card"/>
          <p:cNvSpPr/>
          <p:nvPr/>
        </p:nvSpPr>
        <p:spPr>
          <a:xfrm>
            <a:off x="548640" y="4572000"/>
            <a:ext cx="2560320" cy="1737360"/>
          </a:xfrm>
          <a:prstGeom prst="roundRect">
            <a:avLst>
              <a:gd name="adj" fmla="val 8421"/>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21" name="Firebase Auth circle"/>
          <p:cNvSpPr/>
          <p:nvPr/>
        </p:nvSpPr>
        <p:spPr>
          <a:xfrm>
            <a:off x="749808" y="4791456"/>
            <a:ext cx="457200" cy="457200"/>
          </a:xfrm>
          <a:prstGeom prst="ellipse">
            <a:avLst/>
          </a:prstGeom>
          <a:solidFill>
            <a:schemeClr val="accent2">
              <a:alpha val="14000"/>
            </a:schemeClr>
          </a:solidFill>
          <a:ln/>
        </p:spPr>
      </p:sp>
      <p:pic>
        <p:nvPicPr>
          <p:cNvPr id="22" name="Image 3" descr="Firebase Auth icon">    </p:cNvPr>
          <p:cNvPicPr>
            <a:picLocks noChangeAspect="1"/>
          </p:cNvPicPr>
          <p:nvPr/>
        </p:nvPicPr>
        <p:blipFill>
          <a:blip r:embed="rId4"/>
          <a:stretch>
            <a:fillRect/>
          </a:stretch>
        </p:blipFill>
        <p:spPr>
          <a:xfrm>
            <a:off x="859536" y="4901184"/>
            <a:ext cx="237744" cy="237744"/>
          </a:xfrm>
          <a:prstGeom prst="rect">
            <a:avLst/>
          </a:prstGeom>
        </p:spPr>
      </p:pic>
      <p:sp>
        <p:nvSpPr>
          <p:cNvPr id="23" name="Firebase Auth"/>
          <p:cNvSpPr txBox="1"/>
          <p:nvPr/>
        </p:nvSpPr>
        <p:spPr>
          <a:xfrm>
            <a:off x="1316736" y="4791456"/>
            <a:ext cx="1755648" cy="457200"/>
          </a:xfrm>
          <a:prstGeom prst="rect">
            <a:avLst/>
          </a:prstGeom>
          <a:noFill/>
          <a:ln/>
        </p:spPr>
        <p:txBody>
          <a:bodyPr wrap="square" lIns="0" tIns="0" rIns="0" bIns="0" rtlCol="0" anchor="ctr"/>
          <a:lstStyle/>
          <a:p>
            <a:pPr algn="l" indent="0" marL="0">
              <a:buNone/>
            </a:pPr>
            <a:r>
              <a:rPr lang="en-US" sz="2000" b="1" dirty="0">
                <a:solidFill>
                  <a:schemeClr val="tx1"/>
                </a:solidFill>
              </a:rPr>
              <a:t>Firebase Auth</a:t>
            </a:r>
            <a:endParaRPr lang="en-US" sz="2000" dirty="0"/>
          </a:p>
        </p:txBody>
      </p:sp>
      <p:sp>
        <p:nvSpPr>
          <p:cNvPr id="24" name="Firebase Auth: Email + password"/>
          <p:cNvSpPr txBox="1"/>
          <p:nvPr/>
        </p:nvSpPr>
        <p:spPr>
          <a:xfrm>
            <a:off x="786384" y="5449824"/>
            <a:ext cx="2121408" cy="329184"/>
          </a:xfrm>
          <a:prstGeom prst="rect">
            <a:avLst/>
          </a:prstGeom>
          <a:noFill/>
          <a:ln/>
        </p:spPr>
        <p:txBody>
          <a:bodyPr wrap="square" lIns="0" tIns="0" rIns="0" bIns="0" rtlCol="0" anchor="ctr"/>
          <a:lstStyle/>
          <a:p>
            <a:pPr algn="l" indent="0" marL="0">
              <a:buNone/>
            </a:pPr>
            <a:r>
              <a:rPr lang="en-US" sz="1800" dirty="0">
                <a:solidFill>
                  <a:schemeClr val="tx1"/>
                </a:solidFill>
              </a:rPr>
              <a:t>Email + password</a:t>
            </a:r>
            <a:endParaRPr lang="en-US" sz="1800" dirty="0"/>
          </a:p>
        </p:txBody>
      </p:sp>
      <p:sp>
        <p:nvSpPr>
          <p:cNvPr id="25" name="Firebase Auth: Google sign-in"/>
          <p:cNvSpPr txBox="1"/>
          <p:nvPr/>
        </p:nvSpPr>
        <p:spPr>
          <a:xfrm>
            <a:off x="786384" y="5797296"/>
            <a:ext cx="2121408" cy="329184"/>
          </a:xfrm>
          <a:prstGeom prst="rect">
            <a:avLst/>
          </a:prstGeom>
          <a:noFill/>
          <a:ln/>
        </p:spPr>
        <p:txBody>
          <a:bodyPr wrap="square" lIns="0" tIns="0" rIns="0" bIns="0" rtlCol="0" anchor="ctr"/>
          <a:lstStyle/>
          <a:p>
            <a:pPr algn="l" indent="0" marL="0">
              <a:buNone/>
            </a:pPr>
            <a:r>
              <a:rPr lang="en-US" sz="1800" dirty="0">
                <a:solidFill>
                  <a:schemeClr val="tx1"/>
                </a:solidFill>
              </a:rPr>
              <a:t>Google sign-in</a:t>
            </a:r>
            <a:endParaRPr lang="en-US" sz="1800" dirty="0"/>
          </a:p>
        </p:txBody>
      </p:sp>
      <p:sp>
        <p:nvSpPr>
          <p:cNvPr id="26" name="Receptionist AI card"/>
          <p:cNvSpPr/>
          <p:nvPr/>
        </p:nvSpPr>
        <p:spPr>
          <a:xfrm>
            <a:off x="3886200" y="4572000"/>
            <a:ext cx="2606040" cy="1737360"/>
          </a:xfrm>
          <a:prstGeom prst="roundRect">
            <a:avLst>
              <a:gd name="adj" fmla="val 8421"/>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27" name="Receptionist AI circle"/>
          <p:cNvSpPr/>
          <p:nvPr/>
        </p:nvSpPr>
        <p:spPr>
          <a:xfrm>
            <a:off x="4087368" y="4791456"/>
            <a:ext cx="457200" cy="457200"/>
          </a:xfrm>
          <a:prstGeom prst="ellipse">
            <a:avLst/>
          </a:prstGeom>
          <a:solidFill>
            <a:schemeClr val="accent3">
              <a:alpha val="14000"/>
            </a:schemeClr>
          </a:solidFill>
          <a:ln/>
        </p:spPr>
      </p:sp>
      <p:pic>
        <p:nvPicPr>
          <p:cNvPr id="28" name="Image 4" descr="Receptionist AI icon">    </p:cNvPr>
          <p:cNvPicPr>
            <a:picLocks noChangeAspect="1"/>
          </p:cNvPicPr>
          <p:nvPr/>
        </p:nvPicPr>
        <p:blipFill>
          <a:blip r:embed="rId5"/>
          <a:stretch>
            <a:fillRect/>
          </a:stretch>
        </p:blipFill>
        <p:spPr>
          <a:xfrm>
            <a:off x="4197096" y="4901184"/>
            <a:ext cx="237744" cy="237744"/>
          </a:xfrm>
          <a:prstGeom prst="rect">
            <a:avLst/>
          </a:prstGeom>
        </p:spPr>
      </p:pic>
      <p:sp>
        <p:nvSpPr>
          <p:cNvPr id="29" name="Receptionist AI"/>
          <p:cNvSpPr txBox="1"/>
          <p:nvPr/>
        </p:nvSpPr>
        <p:spPr>
          <a:xfrm>
            <a:off x="4654296" y="4791456"/>
            <a:ext cx="1801368" cy="457200"/>
          </a:xfrm>
          <a:prstGeom prst="rect">
            <a:avLst/>
          </a:prstGeom>
          <a:noFill/>
          <a:ln/>
        </p:spPr>
        <p:txBody>
          <a:bodyPr wrap="square" lIns="0" tIns="0" rIns="0" bIns="0" rtlCol="0" anchor="ctr"/>
          <a:lstStyle/>
          <a:p>
            <a:pPr algn="l" indent="0" marL="0">
              <a:buNone/>
            </a:pPr>
            <a:r>
              <a:rPr lang="en-US" sz="2000" b="1" dirty="0">
                <a:solidFill>
                  <a:schemeClr val="tx1"/>
                </a:solidFill>
              </a:rPr>
              <a:t>Receptionist AI</a:t>
            </a:r>
            <a:endParaRPr lang="en-US" sz="2000" dirty="0"/>
          </a:p>
        </p:txBody>
      </p:sp>
      <p:sp>
        <p:nvSpPr>
          <p:cNvPr id="30" name="Receptionist AI: LLM gateway (Groq)"/>
          <p:cNvSpPr txBox="1"/>
          <p:nvPr/>
        </p:nvSpPr>
        <p:spPr>
          <a:xfrm>
            <a:off x="4123944" y="5449824"/>
            <a:ext cx="2167128" cy="329184"/>
          </a:xfrm>
          <a:prstGeom prst="rect">
            <a:avLst/>
          </a:prstGeom>
          <a:noFill/>
          <a:ln/>
        </p:spPr>
        <p:txBody>
          <a:bodyPr wrap="square" lIns="0" tIns="0" rIns="0" bIns="0" rtlCol="0" anchor="ctr"/>
          <a:lstStyle/>
          <a:p>
            <a:pPr algn="l" indent="0" marL="0">
              <a:buNone/>
            </a:pPr>
            <a:r>
              <a:rPr lang="en-US" sz="1800" dirty="0">
                <a:solidFill>
                  <a:schemeClr val="tx1"/>
                </a:solidFill>
              </a:rPr>
              <a:t>LLM gateway (Groq)</a:t>
            </a:r>
            <a:endParaRPr lang="en-US" sz="1800" dirty="0"/>
          </a:p>
        </p:txBody>
      </p:sp>
      <p:sp>
        <p:nvSpPr>
          <p:cNvPr id="31" name="Receptionist AI: Acts through the API"/>
          <p:cNvSpPr txBox="1"/>
          <p:nvPr/>
        </p:nvSpPr>
        <p:spPr>
          <a:xfrm>
            <a:off x="4123944" y="5797296"/>
            <a:ext cx="2167128" cy="329184"/>
          </a:xfrm>
          <a:prstGeom prst="rect">
            <a:avLst/>
          </a:prstGeom>
          <a:noFill/>
          <a:ln/>
        </p:spPr>
        <p:txBody>
          <a:bodyPr wrap="square" lIns="0" tIns="0" rIns="0" bIns="0" rtlCol="0" anchor="ctr"/>
          <a:lstStyle/>
          <a:p>
            <a:pPr algn="l" indent="0" marL="0">
              <a:buNone/>
            </a:pPr>
            <a:r>
              <a:rPr lang="en-US" sz="1800" dirty="0">
                <a:solidFill>
                  <a:schemeClr val="tx1"/>
                </a:solidFill>
              </a:rPr>
              <a:t>Acts through the API</a:t>
            </a:r>
            <a:endParaRPr lang="en-US" sz="1800" dirty="0"/>
          </a:p>
        </p:txBody>
      </p:sp>
      <p:sp>
        <p:nvSpPr>
          <p:cNvPr id="32" name="Browser to server request label"/>
          <p:cNvSpPr txBox="1"/>
          <p:nvPr/>
        </p:nvSpPr>
        <p:spPr>
          <a:xfrm>
            <a:off x="3108960" y="2103120"/>
            <a:ext cx="777240" cy="329184"/>
          </a:xfrm>
          <a:prstGeom prst="rect">
            <a:avLst/>
          </a:prstGeom>
          <a:noFill/>
          <a:ln/>
        </p:spPr>
        <p:txBody>
          <a:bodyPr wrap="square" lIns="0" tIns="0" rIns="0" bIns="0" rtlCol="0" anchor="ctr"/>
          <a:lstStyle/>
          <a:p>
            <a:pPr algn="ctr" indent="0" marL="0">
              <a:buNone/>
            </a:pPr>
            <a:r>
              <a:rPr lang="en-US" sz="1800" b="1" dirty="0">
                <a:solidFill>
                  <a:schemeClr val="accent1"/>
                </a:solidFill>
              </a:rPr>
              <a:t>REST</a:t>
            </a:r>
            <a:endParaRPr lang="en-US" sz="1800" dirty="0"/>
          </a:p>
        </p:txBody>
      </p:sp>
      <p:sp>
        <p:nvSpPr>
          <p:cNvPr id="33" name="Browser to server request"/>
          <p:cNvSpPr/>
          <p:nvPr/>
        </p:nvSpPr>
        <p:spPr>
          <a:xfrm>
            <a:off x="3182112" y="2505456"/>
            <a:ext cx="630936" cy="0"/>
          </a:xfrm>
          <a:prstGeom prst="line">
            <a:avLst/>
          </a:prstGeom>
          <a:noFill/>
          <a:ln w="22225">
            <a:solidFill>
              <a:schemeClr val="accent1"/>
            </a:solidFill>
            <a:prstDash val="solid"/>
            <a:tailEnd type="triangle"/>
          </a:ln>
        </p:spPr>
      </p:sp>
      <p:sp>
        <p:nvSpPr>
          <p:cNvPr id="34" name="Browser to server response"/>
          <p:cNvSpPr/>
          <p:nvPr/>
        </p:nvSpPr>
        <p:spPr>
          <a:xfrm>
            <a:off x="3182112" y="2743200"/>
            <a:ext cx="630936" cy="0"/>
          </a:xfrm>
          <a:prstGeom prst="line">
            <a:avLst/>
          </a:prstGeom>
          <a:noFill/>
          <a:ln w="22225">
            <a:solidFill>
              <a:schemeClr val="accent4"/>
            </a:solidFill>
            <a:prstDash val="solid"/>
            <a:headEnd type="triangle"/>
          </a:ln>
        </p:spPr>
      </p:sp>
      <p:sp>
        <p:nvSpPr>
          <p:cNvPr id="35" name="Browser to server response label"/>
          <p:cNvSpPr txBox="1"/>
          <p:nvPr/>
        </p:nvSpPr>
        <p:spPr>
          <a:xfrm>
            <a:off x="3108960" y="2816352"/>
            <a:ext cx="777240" cy="329184"/>
          </a:xfrm>
          <a:prstGeom prst="rect">
            <a:avLst/>
          </a:prstGeom>
          <a:noFill/>
          <a:ln/>
        </p:spPr>
        <p:txBody>
          <a:bodyPr wrap="square" lIns="0" tIns="0" rIns="0" bIns="0" rtlCol="0" anchor="ctr"/>
          <a:lstStyle/>
          <a:p>
            <a:pPr algn="ctr" indent="0" marL="0">
              <a:buNone/>
            </a:pPr>
            <a:r>
              <a:rPr lang="en-US" sz="1800" dirty="0">
                <a:solidFill>
                  <a:schemeClr val="tx2"/>
                </a:solidFill>
              </a:rPr>
              <a:t>JSON</a:t>
            </a:r>
            <a:endParaRPr lang="en-US" sz="1800" dirty="0"/>
          </a:p>
        </p:txBody>
      </p:sp>
      <p:sp>
        <p:nvSpPr>
          <p:cNvPr id="36" name="Server to database request label"/>
          <p:cNvSpPr txBox="1"/>
          <p:nvPr/>
        </p:nvSpPr>
        <p:spPr>
          <a:xfrm>
            <a:off x="6492240" y="2103120"/>
            <a:ext cx="777240" cy="329184"/>
          </a:xfrm>
          <a:prstGeom prst="rect">
            <a:avLst/>
          </a:prstGeom>
          <a:noFill/>
          <a:ln/>
        </p:spPr>
        <p:txBody>
          <a:bodyPr wrap="square" lIns="0" tIns="0" rIns="0" bIns="0" rtlCol="0" anchor="ctr"/>
          <a:lstStyle/>
          <a:p>
            <a:pPr algn="ctr" indent="0" marL="0">
              <a:buNone/>
            </a:pPr>
            <a:r>
              <a:rPr lang="en-US" sz="1800" b="1" dirty="0">
                <a:solidFill>
                  <a:schemeClr val="accent1"/>
                </a:solidFill>
              </a:rPr>
              <a:t>SQL</a:t>
            </a:r>
            <a:endParaRPr lang="en-US" sz="1800" dirty="0"/>
          </a:p>
        </p:txBody>
      </p:sp>
      <p:sp>
        <p:nvSpPr>
          <p:cNvPr id="37" name="Server to database request"/>
          <p:cNvSpPr/>
          <p:nvPr/>
        </p:nvSpPr>
        <p:spPr>
          <a:xfrm>
            <a:off x="6565392" y="2505456"/>
            <a:ext cx="630936" cy="0"/>
          </a:xfrm>
          <a:prstGeom prst="line">
            <a:avLst/>
          </a:prstGeom>
          <a:noFill/>
          <a:ln w="22225">
            <a:solidFill>
              <a:schemeClr val="accent1"/>
            </a:solidFill>
            <a:prstDash val="solid"/>
            <a:tailEnd type="triangle"/>
          </a:ln>
        </p:spPr>
      </p:sp>
      <p:sp>
        <p:nvSpPr>
          <p:cNvPr id="38" name="Server to database response"/>
          <p:cNvSpPr/>
          <p:nvPr/>
        </p:nvSpPr>
        <p:spPr>
          <a:xfrm>
            <a:off x="6565392" y="2743200"/>
            <a:ext cx="630936" cy="0"/>
          </a:xfrm>
          <a:prstGeom prst="line">
            <a:avLst/>
          </a:prstGeom>
          <a:noFill/>
          <a:ln w="22225">
            <a:solidFill>
              <a:schemeClr val="accent4"/>
            </a:solidFill>
            <a:prstDash val="solid"/>
            <a:headEnd type="triangle"/>
          </a:ln>
        </p:spPr>
      </p:sp>
      <p:sp>
        <p:nvSpPr>
          <p:cNvPr id="39" name="Server to database response label"/>
          <p:cNvSpPr txBox="1"/>
          <p:nvPr/>
        </p:nvSpPr>
        <p:spPr>
          <a:xfrm>
            <a:off x="6492240" y="2816352"/>
            <a:ext cx="777240" cy="329184"/>
          </a:xfrm>
          <a:prstGeom prst="rect">
            <a:avLst/>
          </a:prstGeom>
          <a:noFill/>
          <a:ln/>
        </p:spPr>
        <p:txBody>
          <a:bodyPr wrap="square" lIns="0" tIns="0" rIns="0" bIns="0" rtlCol="0" anchor="ctr"/>
          <a:lstStyle/>
          <a:p>
            <a:pPr algn="ctr" indent="0" marL="0">
              <a:buNone/>
            </a:pPr>
            <a:r>
              <a:rPr lang="en-US" sz="1800" dirty="0">
                <a:solidFill>
                  <a:schemeClr val="tx2"/>
                </a:solidFill>
              </a:rPr>
              <a:t>rows</a:t>
            </a:r>
            <a:endParaRPr lang="en-US" sz="1800" dirty="0"/>
          </a:p>
        </p:txBody>
      </p:sp>
      <p:sp>
        <p:nvSpPr>
          <p:cNvPr id="40" name="Browser to Firebase Auth"/>
          <p:cNvSpPr/>
          <p:nvPr/>
        </p:nvSpPr>
        <p:spPr>
          <a:xfrm>
            <a:off x="1828800" y="3749040"/>
            <a:ext cx="0" cy="731520"/>
          </a:xfrm>
          <a:prstGeom prst="line">
            <a:avLst/>
          </a:prstGeom>
          <a:noFill/>
          <a:ln w="22225">
            <a:solidFill>
              <a:schemeClr val="accent4"/>
            </a:solidFill>
            <a:prstDash val="solid"/>
            <a:headEnd type="triangle"/>
            <a:tailEnd type="triangle"/>
          </a:ln>
        </p:spPr>
      </p:sp>
      <p:sp>
        <p:nvSpPr>
          <p:cNvPr id="41" name="sign-in label"/>
          <p:cNvSpPr txBox="1"/>
          <p:nvPr/>
        </p:nvSpPr>
        <p:spPr>
          <a:xfrm>
            <a:off x="1993392" y="3950208"/>
            <a:ext cx="1097280" cy="329184"/>
          </a:xfrm>
          <a:prstGeom prst="rect">
            <a:avLst/>
          </a:prstGeom>
          <a:noFill/>
          <a:ln/>
        </p:spPr>
        <p:txBody>
          <a:bodyPr wrap="square" lIns="0" tIns="0" rIns="0" bIns="0" rtlCol="0" anchor="ctr"/>
          <a:lstStyle/>
          <a:p>
            <a:pPr algn="l" indent="0" marL="0">
              <a:buNone/>
            </a:pPr>
            <a:r>
              <a:rPr lang="en-US" sz="1800" dirty="0">
                <a:solidFill>
                  <a:schemeClr val="tx2"/>
                </a:solidFill>
              </a:rPr>
              <a:t>sign-in</a:t>
            </a:r>
            <a:endParaRPr lang="en-US" sz="1800" dirty="0"/>
          </a:p>
        </p:txBody>
      </p:sp>
      <p:sp>
        <p:nvSpPr>
          <p:cNvPr id="42" name="Server to Receptionist AI"/>
          <p:cNvSpPr/>
          <p:nvPr/>
        </p:nvSpPr>
        <p:spPr>
          <a:xfrm>
            <a:off x="5189220" y="3749040"/>
            <a:ext cx="0" cy="731520"/>
          </a:xfrm>
          <a:prstGeom prst="line">
            <a:avLst/>
          </a:prstGeom>
          <a:noFill/>
          <a:ln w="22225">
            <a:solidFill>
              <a:schemeClr val="accent4"/>
            </a:solidFill>
            <a:prstDash val="solid"/>
            <a:headEnd type="triangle"/>
            <a:tailEnd type="triangle"/>
          </a:ln>
        </p:spPr>
      </p:sp>
      <p:sp>
        <p:nvSpPr>
          <p:cNvPr id="43" name="tool calls label"/>
          <p:cNvSpPr txBox="1"/>
          <p:nvPr/>
        </p:nvSpPr>
        <p:spPr>
          <a:xfrm>
            <a:off x="5353812" y="3950208"/>
            <a:ext cx="1143000" cy="329184"/>
          </a:xfrm>
          <a:prstGeom prst="rect">
            <a:avLst/>
          </a:prstGeom>
          <a:noFill/>
          <a:ln/>
        </p:spPr>
        <p:txBody>
          <a:bodyPr wrap="square" lIns="0" tIns="0" rIns="0" bIns="0" rtlCol="0" anchor="ctr"/>
          <a:lstStyle/>
          <a:p>
            <a:pPr algn="l" indent="0" marL="0">
              <a:buNone/>
            </a:pPr>
            <a:r>
              <a:rPr lang="en-US" sz="1800" dirty="0">
                <a:solidFill>
                  <a:schemeClr val="tx2"/>
                </a:solidFill>
              </a:rPr>
              <a:t>tool calls</a:t>
            </a:r>
            <a:endParaRPr lang="en-US" sz="1800" dirty="0"/>
          </a:p>
        </p:txBody>
      </p:sp>
      <p:sp>
        <p:nvSpPr>
          <p:cNvPr id="44" name="PostgreSQL card"/>
          <p:cNvSpPr/>
          <p:nvPr/>
        </p:nvSpPr>
        <p:spPr>
          <a:xfrm>
            <a:off x="7269480" y="1572768"/>
            <a:ext cx="4370832" cy="4736592"/>
          </a:xfrm>
          <a:prstGeom prst="roundRect">
            <a:avLst>
              <a:gd name="adj" fmla="val 3347"/>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45" name="PostgreSQL circle"/>
          <p:cNvSpPr/>
          <p:nvPr/>
        </p:nvSpPr>
        <p:spPr>
          <a:xfrm>
            <a:off x="7543800" y="1847088"/>
            <a:ext cx="566928" cy="566928"/>
          </a:xfrm>
          <a:prstGeom prst="ellipse">
            <a:avLst/>
          </a:prstGeom>
          <a:solidFill>
            <a:schemeClr val="accent1"/>
          </a:solidFill>
          <a:ln/>
        </p:spPr>
      </p:sp>
      <p:pic>
        <p:nvPicPr>
          <p:cNvPr id="46" name="Image 5" descr="PostgreSQL icon">    </p:cNvPr>
          <p:cNvPicPr>
            <a:picLocks noChangeAspect="1"/>
          </p:cNvPicPr>
          <p:nvPr/>
        </p:nvPicPr>
        <p:blipFill>
          <a:blip r:embed="rId6"/>
          <a:stretch>
            <a:fillRect/>
          </a:stretch>
        </p:blipFill>
        <p:spPr>
          <a:xfrm>
            <a:off x="7679863" y="1983151"/>
            <a:ext cx="294803" cy="294803"/>
          </a:xfrm>
          <a:prstGeom prst="rect">
            <a:avLst/>
          </a:prstGeom>
        </p:spPr>
      </p:pic>
      <p:sp>
        <p:nvSpPr>
          <p:cNvPr id="47" name="PostgreSQL"/>
          <p:cNvSpPr txBox="1"/>
          <p:nvPr/>
        </p:nvSpPr>
        <p:spPr>
          <a:xfrm>
            <a:off x="8247888" y="1792224"/>
            <a:ext cx="3182112" cy="365760"/>
          </a:xfrm>
          <a:prstGeom prst="rect">
            <a:avLst/>
          </a:prstGeom>
          <a:noFill/>
          <a:ln/>
        </p:spPr>
        <p:txBody>
          <a:bodyPr wrap="square" lIns="0" tIns="0" rIns="0" bIns="0" rtlCol="0" anchor="ctr"/>
          <a:lstStyle/>
          <a:p>
            <a:pPr algn="l" indent="0" marL="0">
              <a:buNone/>
            </a:pPr>
            <a:r>
              <a:rPr lang="en-US" sz="2000" b="1" dirty="0">
                <a:solidFill>
                  <a:schemeClr val="tx1"/>
                </a:solidFill>
              </a:rPr>
              <a:t>PostgreSQL</a:t>
            </a:r>
            <a:endParaRPr lang="en-US" sz="2000" dirty="0"/>
          </a:p>
        </p:txBody>
      </p:sp>
      <p:sp>
        <p:nvSpPr>
          <p:cNvPr id="48" name="PostgreSQL subtitle"/>
          <p:cNvSpPr txBox="1"/>
          <p:nvPr/>
        </p:nvSpPr>
        <p:spPr>
          <a:xfrm>
            <a:off x="8247888" y="2139696"/>
            <a:ext cx="3182112" cy="329184"/>
          </a:xfrm>
          <a:prstGeom prst="rect">
            <a:avLst/>
          </a:prstGeom>
          <a:noFill/>
          <a:ln/>
        </p:spPr>
        <p:txBody>
          <a:bodyPr wrap="square" lIns="0" tIns="0" rIns="0" bIns="0" rtlCol="0" anchor="ctr"/>
          <a:lstStyle/>
          <a:p>
            <a:pPr algn="l" indent="0" marL="0">
              <a:buNone/>
            </a:pPr>
            <a:r>
              <a:rPr lang="en-US" sz="1800" dirty="0">
                <a:solidFill>
                  <a:schemeClr val="tx2"/>
                </a:solidFill>
              </a:rPr>
              <a:t>The rules live in the database</a:t>
            </a:r>
            <a:endParaRPr lang="en-US" sz="1800" dirty="0"/>
          </a:p>
        </p:txBody>
      </p:sp>
      <p:sp>
        <p:nvSpPr>
          <p:cNvPr id="49" name="Constraints chip"/>
          <p:cNvSpPr/>
          <p:nvPr/>
        </p:nvSpPr>
        <p:spPr>
          <a:xfrm>
            <a:off x="7543800" y="2724912"/>
            <a:ext cx="1828800" cy="493776"/>
          </a:xfrm>
          <a:prstGeom prst="roundRect">
            <a:avLst>
              <a:gd name="adj" fmla="val 25926"/>
            </a:avLst>
          </a:prstGeom>
          <a:solidFill>
            <a:schemeClr val="accent1">
              <a:alpha val="10000"/>
            </a:schemeClr>
          </a:solidFill>
          <a:ln/>
        </p:spPr>
      </p:sp>
      <p:sp>
        <p:nvSpPr>
          <p:cNvPr id="50" name="Constraints"/>
          <p:cNvSpPr txBox="1"/>
          <p:nvPr/>
        </p:nvSpPr>
        <p:spPr>
          <a:xfrm>
            <a:off x="7543800" y="2724912"/>
            <a:ext cx="1828800" cy="493776"/>
          </a:xfrm>
          <a:prstGeom prst="rect">
            <a:avLst/>
          </a:prstGeom>
          <a:noFill/>
          <a:ln/>
        </p:spPr>
        <p:txBody>
          <a:bodyPr wrap="square" lIns="0" tIns="0" rIns="0" bIns="0" rtlCol="0" anchor="ctr"/>
          <a:lstStyle/>
          <a:p>
            <a:pPr algn="ctr" indent="0" marL="0">
              <a:buNone/>
            </a:pPr>
            <a:r>
              <a:rPr lang="en-US" sz="1800" dirty="0">
                <a:solidFill>
                  <a:schemeClr val="tx1"/>
                </a:solidFill>
              </a:rPr>
              <a:t>Constraints</a:t>
            </a:r>
            <a:endParaRPr lang="en-US" sz="1800" dirty="0"/>
          </a:p>
        </p:txBody>
      </p:sp>
      <p:sp>
        <p:nvSpPr>
          <p:cNvPr id="51" name="Transactions chip"/>
          <p:cNvSpPr/>
          <p:nvPr/>
        </p:nvSpPr>
        <p:spPr>
          <a:xfrm>
            <a:off x="9537192" y="2724912"/>
            <a:ext cx="1828800" cy="493776"/>
          </a:xfrm>
          <a:prstGeom prst="roundRect">
            <a:avLst>
              <a:gd name="adj" fmla="val 25926"/>
            </a:avLst>
          </a:prstGeom>
          <a:solidFill>
            <a:schemeClr val="accent1">
              <a:alpha val="10000"/>
            </a:schemeClr>
          </a:solidFill>
          <a:ln/>
        </p:spPr>
      </p:sp>
      <p:sp>
        <p:nvSpPr>
          <p:cNvPr id="52" name="Transactions"/>
          <p:cNvSpPr txBox="1"/>
          <p:nvPr/>
        </p:nvSpPr>
        <p:spPr>
          <a:xfrm>
            <a:off x="9537192" y="2724912"/>
            <a:ext cx="1828800" cy="493776"/>
          </a:xfrm>
          <a:prstGeom prst="rect">
            <a:avLst/>
          </a:prstGeom>
          <a:noFill/>
          <a:ln/>
        </p:spPr>
        <p:txBody>
          <a:bodyPr wrap="square" lIns="0" tIns="0" rIns="0" bIns="0" rtlCol="0" anchor="ctr"/>
          <a:lstStyle/>
          <a:p>
            <a:pPr algn="ctr" indent="0" marL="0">
              <a:buNone/>
            </a:pPr>
            <a:r>
              <a:rPr lang="en-US" sz="1800" dirty="0">
                <a:solidFill>
                  <a:schemeClr val="tx1"/>
                </a:solidFill>
              </a:rPr>
              <a:t>Transactions</a:t>
            </a:r>
            <a:endParaRPr lang="en-US" sz="1800" dirty="0"/>
          </a:p>
        </p:txBody>
      </p:sp>
      <p:sp>
        <p:nvSpPr>
          <p:cNvPr id="53" name="Stock ledger chip"/>
          <p:cNvSpPr/>
          <p:nvPr/>
        </p:nvSpPr>
        <p:spPr>
          <a:xfrm>
            <a:off x="7543800" y="3364992"/>
            <a:ext cx="1828800" cy="493776"/>
          </a:xfrm>
          <a:prstGeom prst="roundRect">
            <a:avLst>
              <a:gd name="adj" fmla="val 25926"/>
            </a:avLst>
          </a:prstGeom>
          <a:solidFill>
            <a:schemeClr val="accent1">
              <a:alpha val="10000"/>
            </a:schemeClr>
          </a:solidFill>
          <a:ln/>
        </p:spPr>
      </p:sp>
      <p:sp>
        <p:nvSpPr>
          <p:cNvPr id="54" name="Stock ledger"/>
          <p:cNvSpPr txBox="1"/>
          <p:nvPr/>
        </p:nvSpPr>
        <p:spPr>
          <a:xfrm>
            <a:off x="7543800" y="3364992"/>
            <a:ext cx="1828800" cy="493776"/>
          </a:xfrm>
          <a:prstGeom prst="rect">
            <a:avLst/>
          </a:prstGeom>
          <a:noFill/>
          <a:ln/>
        </p:spPr>
        <p:txBody>
          <a:bodyPr wrap="square" lIns="0" tIns="0" rIns="0" bIns="0" rtlCol="0" anchor="ctr"/>
          <a:lstStyle/>
          <a:p>
            <a:pPr algn="ctr" indent="0" marL="0">
              <a:buNone/>
            </a:pPr>
            <a:r>
              <a:rPr lang="en-US" sz="1800" dirty="0">
                <a:solidFill>
                  <a:schemeClr val="tx1"/>
                </a:solidFill>
              </a:rPr>
              <a:t>Stock ledger</a:t>
            </a:r>
            <a:endParaRPr lang="en-US" sz="1800" dirty="0"/>
          </a:p>
        </p:txBody>
      </p:sp>
      <p:sp>
        <p:nvSpPr>
          <p:cNvPr id="55" name="Audit trail chip"/>
          <p:cNvSpPr/>
          <p:nvPr/>
        </p:nvSpPr>
        <p:spPr>
          <a:xfrm>
            <a:off x="9537192" y="3364992"/>
            <a:ext cx="1828800" cy="493776"/>
          </a:xfrm>
          <a:prstGeom prst="roundRect">
            <a:avLst>
              <a:gd name="adj" fmla="val 25926"/>
            </a:avLst>
          </a:prstGeom>
          <a:solidFill>
            <a:schemeClr val="accent1">
              <a:alpha val="10000"/>
            </a:schemeClr>
          </a:solidFill>
          <a:ln/>
        </p:spPr>
      </p:sp>
      <p:sp>
        <p:nvSpPr>
          <p:cNvPr id="56" name="Audit trail"/>
          <p:cNvSpPr txBox="1"/>
          <p:nvPr/>
        </p:nvSpPr>
        <p:spPr>
          <a:xfrm>
            <a:off x="9537192" y="3364992"/>
            <a:ext cx="1828800" cy="493776"/>
          </a:xfrm>
          <a:prstGeom prst="rect">
            <a:avLst/>
          </a:prstGeom>
          <a:noFill/>
          <a:ln/>
        </p:spPr>
        <p:txBody>
          <a:bodyPr wrap="square" lIns="0" tIns="0" rIns="0" bIns="0" rtlCol="0" anchor="ctr"/>
          <a:lstStyle/>
          <a:p>
            <a:pPr algn="ctr" indent="0" marL="0">
              <a:buNone/>
            </a:pPr>
            <a:r>
              <a:rPr lang="en-US" sz="1800" dirty="0">
                <a:solidFill>
                  <a:schemeClr val="tx1"/>
                </a:solidFill>
              </a:rPr>
              <a:t>Audit trail</a:t>
            </a:r>
            <a:endParaRPr lang="en-US" sz="1800" dirty="0"/>
          </a:p>
        </p:txBody>
      </p:sp>
      <p:sp>
        <p:nvSpPr>
          <p:cNvPr id="57" name="Migrations chip"/>
          <p:cNvSpPr/>
          <p:nvPr/>
        </p:nvSpPr>
        <p:spPr>
          <a:xfrm>
            <a:off x="7543800" y="4005072"/>
            <a:ext cx="1828800" cy="493776"/>
          </a:xfrm>
          <a:prstGeom prst="roundRect">
            <a:avLst>
              <a:gd name="adj" fmla="val 25926"/>
            </a:avLst>
          </a:prstGeom>
          <a:solidFill>
            <a:schemeClr val="accent1">
              <a:alpha val="10000"/>
            </a:schemeClr>
          </a:solidFill>
          <a:ln/>
        </p:spPr>
      </p:sp>
      <p:sp>
        <p:nvSpPr>
          <p:cNvPr id="58" name="Migrations"/>
          <p:cNvSpPr txBox="1"/>
          <p:nvPr/>
        </p:nvSpPr>
        <p:spPr>
          <a:xfrm>
            <a:off x="7543800" y="4005072"/>
            <a:ext cx="1828800" cy="493776"/>
          </a:xfrm>
          <a:prstGeom prst="rect">
            <a:avLst/>
          </a:prstGeom>
          <a:noFill/>
          <a:ln/>
        </p:spPr>
        <p:txBody>
          <a:bodyPr wrap="square" lIns="0" tIns="0" rIns="0" bIns="0" rtlCol="0" anchor="ctr"/>
          <a:lstStyle/>
          <a:p>
            <a:pPr algn="ctr" indent="0" marL="0">
              <a:buNone/>
            </a:pPr>
            <a:r>
              <a:rPr lang="en-US" sz="1800" dirty="0">
                <a:solidFill>
                  <a:schemeClr val="tx1"/>
                </a:solidFill>
              </a:rPr>
              <a:t>Migrations</a:t>
            </a:r>
            <a:endParaRPr lang="en-US" sz="1800" dirty="0"/>
          </a:p>
        </p:txBody>
      </p:sp>
      <p:sp>
        <p:nvSpPr>
          <p:cNvPr id="59" name="Trigram search chip"/>
          <p:cNvSpPr/>
          <p:nvPr/>
        </p:nvSpPr>
        <p:spPr>
          <a:xfrm>
            <a:off x="9537192" y="4005072"/>
            <a:ext cx="1828800" cy="493776"/>
          </a:xfrm>
          <a:prstGeom prst="roundRect">
            <a:avLst>
              <a:gd name="adj" fmla="val 25926"/>
            </a:avLst>
          </a:prstGeom>
          <a:solidFill>
            <a:schemeClr val="accent1">
              <a:alpha val="10000"/>
            </a:schemeClr>
          </a:solidFill>
          <a:ln/>
        </p:spPr>
      </p:sp>
      <p:sp>
        <p:nvSpPr>
          <p:cNvPr id="60" name="Trigram search"/>
          <p:cNvSpPr txBox="1"/>
          <p:nvPr/>
        </p:nvSpPr>
        <p:spPr>
          <a:xfrm>
            <a:off x="9537192" y="4005072"/>
            <a:ext cx="1828800" cy="493776"/>
          </a:xfrm>
          <a:prstGeom prst="rect">
            <a:avLst/>
          </a:prstGeom>
          <a:noFill/>
          <a:ln/>
        </p:spPr>
        <p:txBody>
          <a:bodyPr wrap="square" lIns="0" tIns="0" rIns="0" bIns="0" rtlCol="0" anchor="ctr"/>
          <a:lstStyle/>
          <a:p>
            <a:pPr algn="ctr" indent="0" marL="0">
              <a:buNone/>
            </a:pPr>
            <a:r>
              <a:rPr lang="en-US" sz="1800" dirty="0">
                <a:solidFill>
                  <a:schemeClr val="tx1"/>
                </a:solidFill>
              </a:rPr>
              <a:t>Trigram search</a:t>
            </a:r>
            <a:endParaRPr lang="en-US" sz="1800" dirty="0"/>
          </a:p>
        </p:txBody>
      </p:sp>
      <p:sp>
        <p:nvSpPr>
          <p:cNvPr id="61" name="tables count"/>
          <p:cNvSpPr txBox="1"/>
          <p:nvPr/>
        </p:nvSpPr>
        <p:spPr>
          <a:xfrm>
            <a:off x="7543800" y="4773168"/>
            <a:ext cx="1274064" cy="365760"/>
          </a:xfrm>
          <a:prstGeom prst="rect">
            <a:avLst/>
          </a:prstGeom>
          <a:noFill/>
          <a:ln/>
        </p:spPr>
        <p:txBody>
          <a:bodyPr wrap="square" lIns="0" tIns="0" rIns="0" bIns="0" rtlCol="0" anchor="ctr"/>
          <a:lstStyle/>
          <a:p>
            <a:pPr algn="ctr" indent="0" marL="0">
              <a:buNone/>
            </a:pPr>
            <a:r>
              <a:rPr lang="en-US" sz="2200" b="1" dirty="0">
                <a:solidFill>
                  <a:schemeClr val="accent1"/>
                </a:solidFill>
              </a:rPr>
              <a:t>40+</a:t>
            </a:r>
            <a:endParaRPr lang="en-US" sz="2200" dirty="0"/>
          </a:p>
        </p:txBody>
      </p:sp>
      <p:sp>
        <p:nvSpPr>
          <p:cNvPr id="62" name="tables label"/>
          <p:cNvSpPr txBox="1"/>
          <p:nvPr/>
        </p:nvSpPr>
        <p:spPr>
          <a:xfrm>
            <a:off x="7543800" y="5120640"/>
            <a:ext cx="1274064" cy="310896"/>
          </a:xfrm>
          <a:prstGeom prst="rect">
            <a:avLst/>
          </a:prstGeom>
          <a:noFill/>
          <a:ln/>
        </p:spPr>
        <p:txBody>
          <a:bodyPr wrap="square" lIns="0" tIns="0" rIns="0" bIns="0" rtlCol="0" anchor="ctr"/>
          <a:lstStyle/>
          <a:p>
            <a:pPr algn="ctr" indent="0" marL="0">
              <a:buNone/>
            </a:pPr>
            <a:r>
              <a:rPr lang="en-US" sz="1800" dirty="0">
                <a:solidFill>
                  <a:schemeClr val="tx2"/>
                </a:solidFill>
              </a:rPr>
              <a:t>tables</a:t>
            </a:r>
            <a:endParaRPr lang="en-US" sz="1800" dirty="0"/>
          </a:p>
        </p:txBody>
      </p:sp>
      <p:sp>
        <p:nvSpPr>
          <p:cNvPr id="63" name="triggers count"/>
          <p:cNvSpPr txBox="1"/>
          <p:nvPr/>
        </p:nvSpPr>
        <p:spPr>
          <a:xfrm>
            <a:off x="8817864" y="4773168"/>
            <a:ext cx="1274064" cy="365760"/>
          </a:xfrm>
          <a:prstGeom prst="rect">
            <a:avLst/>
          </a:prstGeom>
          <a:noFill/>
          <a:ln/>
        </p:spPr>
        <p:txBody>
          <a:bodyPr wrap="square" lIns="0" tIns="0" rIns="0" bIns="0" rtlCol="0" anchor="ctr"/>
          <a:lstStyle/>
          <a:p>
            <a:pPr algn="ctr" indent="0" marL="0">
              <a:buNone/>
            </a:pPr>
            <a:r>
              <a:rPr lang="en-US" sz="2200" b="1" dirty="0">
                <a:solidFill>
                  <a:schemeClr val="accent1"/>
                </a:solidFill>
              </a:rPr>
              <a:t>40+</a:t>
            </a:r>
            <a:endParaRPr lang="en-US" sz="2200" dirty="0"/>
          </a:p>
        </p:txBody>
      </p:sp>
      <p:sp>
        <p:nvSpPr>
          <p:cNvPr id="64" name="triggers label"/>
          <p:cNvSpPr txBox="1"/>
          <p:nvPr/>
        </p:nvSpPr>
        <p:spPr>
          <a:xfrm>
            <a:off x="8817864" y="5120640"/>
            <a:ext cx="1274064" cy="310896"/>
          </a:xfrm>
          <a:prstGeom prst="rect">
            <a:avLst/>
          </a:prstGeom>
          <a:noFill/>
          <a:ln/>
        </p:spPr>
        <p:txBody>
          <a:bodyPr wrap="square" lIns="0" tIns="0" rIns="0" bIns="0" rtlCol="0" anchor="ctr"/>
          <a:lstStyle/>
          <a:p>
            <a:pPr algn="ctr" indent="0" marL="0">
              <a:buNone/>
            </a:pPr>
            <a:r>
              <a:rPr lang="en-US" sz="1800" dirty="0">
                <a:solidFill>
                  <a:schemeClr val="tx2"/>
                </a:solidFill>
              </a:rPr>
              <a:t>triggers</a:t>
            </a:r>
            <a:endParaRPr lang="en-US" sz="1800" dirty="0"/>
          </a:p>
        </p:txBody>
      </p:sp>
      <p:sp>
        <p:nvSpPr>
          <p:cNvPr id="65" name="views count"/>
          <p:cNvSpPr txBox="1"/>
          <p:nvPr/>
        </p:nvSpPr>
        <p:spPr>
          <a:xfrm>
            <a:off x="10091928" y="4773168"/>
            <a:ext cx="1274064" cy="365760"/>
          </a:xfrm>
          <a:prstGeom prst="rect">
            <a:avLst/>
          </a:prstGeom>
          <a:noFill/>
          <a:ln/>
        </p:spPr>
        <p:txBody>
          <a:bodyPr wrap="square" lIns="0" tIns="0" rIns="0" bIns="0" rtlCol="0" anchor="ctr"/>
          <a:lstStyle/>
          <a:p>
            <a:pPr algn="ctr" indent="0" marL="0">
              <a:buNone/>
            </a:pPr>
            <a:r>
              <a:rPr lang="en-US" sz="2200" b="1" dirty="0">
                <a:solidFill>
                  <a:schemeClr val="accent1"/>
                </a:solidFill>
              </a:rPr>
              <a:t>7</a:t>
            </a:r>
            <a:endParaRPr lang="en-US" sz="2200" dirty="0"/>
          </a:p>
        </p:txBody>
      </p:sp>
      <p:sp>
        <p:nvSpPr>
          <p:cNvPr id="66" name="views label"/>
          <p:cNvSpPr txBox="1"/>
          <p:nvPr/>
        </p:nvSpPr>
        <p:spPr>
          <a:xfrm>
            <a:off x="10091928" y="5120640"/>
            <a:ext cx="1274064" cy="310896"/>
          </a:xfrm>
          <a:prstGeom prst="rect">
            <a:avLst/>
          </a:prstGeom>
          <a:noFill/>
          <a:ln/>
        </p:spPr>
        <p:txBody>
          <a:bodyPr wrap="square" lIns="0" tIns="0" rIns="0" bIns="0" rtlCol="0" anchor="ctr"/>
          <a:lstStyle/>
          <a:p>
            <a:pPr algn="ctr" indent="0" marL="0">
              <a:buNone/>
            </a:pPr>
            <a:r>
              <a:rPr lang="en-US" sz="1800" dirty="0">
                <a:solidFill>
                  <a:schemeClr val="tx2"/>
                </a:solidFill>
              </a:rPr>
              <a:t>views</a:t>
            </a:r>
            <a:endParaRPr lang="en-US" sz="1800" dirty="0"/>
          </a:p>
        </p:txBody>
      </p:sp>
      <p:sp>
        <p:nvSpPr>
          <p:cNvPr id="67" name="PostgreSQL divider"/>
          <p:cNvSpPr/>
          <p:nvPr/>
        </p:nvSpPr>
        <p:spPr>
          <a:xfrm>
            <a:off x="7543800" y="5650992"/>
            <a:ext cx="3822192" cy="0"/>
          </a:xfrm>
          <a:prstGeom prst="line">
            <a:avLst/>
          </a:prstGeom>
          <a:noFill/>
          <a:ln w="9525">
            <a:solidFill>
              <a:srgbClr val="DCDCE1"/>
            </a:solidFill>
            <a:prstDash val="solid"/>
          </a:ln>
        </p:spPr>
      </p:sp>
      <p:sp>
        <p:nvSpPr>
          <p:cNvPr id="68" name="How PostgreSQL runs"/>
          <p:cNvSpPr txBox="1"/>
          <p:nvPr/>
        </p:nvSpPr>
        <p:spPr>
          <a:xfrm>
            <a:off x="7543800" y="5760720"/>
            <a:ext cx="3822192" cy="329184"/>
          </a:xfrm>
          <a:prstGeom prst="rect">
            <a:avLst/>
          </a:prstGeom>
          <a:noFill/>
          <a:ln/>
        </p:spPr>
        <p:txBody>
          <a:bodyPr wrap="square" lIns="0" tIns="0" rIns="0" bIns="0" rtlCol="0" anchor="ctr"/>
          <a:lstStyle/>
          <a:p>
            <a:pPr algn="ctr" indent="0" marL="0">
              <a:buNone/>
            </a:pPr>
            <a:r>
              <a:rPr lang="en-US" sz="1800" dirty="0">
                <a:solidFill>
                  <a:schemeClr val="tx1"/>
                </a:solidFill>
              </a:rPr>
              <a:t>Embedded (PGlite) or hosted (pg)</a:t>
            </a:r>
            <a:endParaRPr lang="en-US" sz="1800" dirty="0"/>
          </a:p>
        </p:txBody>
      </p:sp>
    </p:spTree>
  </p:cSld>
  <p:clrMapOvr>
    <a:masterClrMapping/>
  </p:clrMapOvr>
</p:sld>
</file>

<file path=ppt/theme/theme1.xml><?xml version="1.0" encoding="utf-8"?>
<a:theme xmlns:a="http://schemas.openxmlformats.org/drawingml/2006/main" name="DocDesk">
  <a:themeElements>
    <a:clrScheme name="DocDesk">
      <a:dk1>
        <a:srgbClr val="1D1D1F"/>
      </a:dk1>
      <a:lt1>
        <a:srgbClr val="FFFFFF"/>
      </a:lt1>
      <a:dk2>
        <a:srgbClr val="6E6E73"/>
      </a:dk2>
      <a:lt2>
        <a:srgbClr val="F5F5F7"/>
      </a:lt2>
      <a:accent1>
        <a:srgbClr val="0071E3"/>
      </a:accent1>
      <a:accent2>
        <a:srgbClr val="248A3D"/>
      </a:accent2>
      <a:accent3>
        <a:srgbClr val="5E5CE6"/>
      </a:accent3>
      <a:accent4>
        <a:srgbClr val="8E8E93"/>
      </a:accent4>
      <a:accent5>
        <a:srgbClr val="B25000"/>
      </a:accent5>
      <a:accent6>
        <a:srgbClr val="D70015"/>
      </a:accent6>
      <a:hlink>
        <a:srgbClr val="0066CC"/>
      </a:hlink>
      <a:folHlink>
        <a:srgbClr val="5E5CE6"/>
      </a:folHlink>
    </a:clrScheme>
    <a:fontScheme name="DocDes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DocDesk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DocDesk architecture</dc:title>
  <dc:subject>Tech stack and request flow</dc:subject>
  <dc:creator>DocDesk</dc:creator>
  <cp:lastModifiedBy>DocDesk</cp:lastModifiedBy>
  <cp:revision>1</cp:revision>
  <dcterms:created xsi:type="dcterms:W3CDTF">2026-10-11T07:36:20Z</dcterms:created>
  <dcterms:modified xsi:type="dcterms:W3CDTF">2026-10-11T07:36:20Z</dcterms:modified>
</cp:coreProperties>
</file>