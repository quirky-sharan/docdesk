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DocDesk is a digital front desk for small businesses such as clinics and shops. Today most of them keep stock in a spreadsheet, write bills by hand and take bookings on paper, so the records depend on one person and mistakes go unnoticed. DocDesk puts all of that in one simple app: inventory, sales and receipts, customers, suppliers, appointments and reports. The records keep themselves correct. Every sale updates the stock, receipts are produced instantly, and the diary only offers times that are really free, so nothing is double booked. It also has a built-in Receptionist AI. The owner types a request in plain words, for example "Sell 3 pens to Priya". DocDesk shows exactly what will change and saves it only after the owner confirms. It is built for people who are not technical: every screen is meant to be obvious, forgiving and hard to break.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ster">
    <p:bg>
      <p:bgPr>
        <a:solidFill>
          <a:srgbClr val="F5F5F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1389888" y="420624"/>
            <a:ext cx="10241280" cy="384048"/>
          </a:xfrm>
          <a:prstGeom prst="rect">
            <a:avLst/>
          </a:prstGeom>
          <a:noFill/>
          <a:ln/>
        </p:spPr>
        <p:txBody>
          <a:bodyPr wrap="square" rtlCol="0"/>
          <a:lstStyle>
            <a:lvl1pPr algn="l" indent="0" marL="0">
              <a:buNone/>
              <a:defRPr lang="en-US" sz="2200" b="1" dirty="0">
                <a:solidFill>
                  <a:schemeClr val="tx1"/>
                </a:solidFill>
              </a:defRPr>
            </a:lvl1pPr>
          </a:lstStyle>
          <a:p>
            <a:pPr algn="l" indent="0" marL="0">
              <a:buNone/>
            </a:pP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slideLayout" Target="../slideLayouts/slideLayout2.xml"/><Relationship Id="rId2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ocDesk mark"/>
          <p:cNvSpPr/>
          <p:nvPr/>
        </p:nvSpPr>
        <p:spPr>
          <a:xfrm>
            <a:off x="548640" y="448056"/>
            <a:ext cx="676656" cy="676656"/>
          </a:xfrm>
          <a:prstGeom prst="roundRect">
            <a:avLst>
              <a:gd name="adj" fmla="val 24324"/>
            </a:avLst>
          </a:prstGeom>
          <a:solidFill>
            <a:schemeClr val="accent1"/>
          </a:solidFill>
          <a:ln/>
        </p:spPr>
      </p:sp>
      <p:pic>
        <p:nvPicPr>
          <p:cNvPr id="3" name="Image 0" descr="DocDesk front desk bell">    </p:cNvPr>
          <p:cNvPicPr>
            <a:picLocks noChangeAspect="1"/>
          </p:cNvPicPr>
          <p:nvPr/>
        </p:nvPicPr>
        <p:blipFill>
          <a:blip r:embed="rId1"/>
          <a:stretch>
            <a:fillRect/>
          </a:stretch>
        </p:blipFill>
        <p:spPr>
          <a:xfrm>
            <a:off x="694944" y="594360"/>
            <a:ext cx="384048" cy="384048"/>
          </a:xfrm>
          <a:prstGeom prst="rect">
            <a:avLst/>
          </a:prstGeom>
        </p:spPr>
      </p:pic>
      <p:sp>
        <p:nvSpPr>
          <p:cNvPr id="4" name="Text 0"/>
          <p:cNvSpPr/>
          <p:nvPr>
            <p:ph idx="100" type="title" hasCustomPrompt="1"/>
          </p:nvPr>
        </p:nvSpPr>
        <p:spPr>
          <a:xfrm>
            <a:off x="1389888" y="420624"/>
            <a:ext cx="10241280" cy="384048"/>
          </a:xfrm>
          <a:prstGeom prst="rect">
            <a:avLst/>
          </a:prstGeom>
          <a:noFill/>
          <a:ln/>
        </p:spPr>
        <p:txBody>
          <a:bodyPr wrap="square" lIns="0" tIns="0" rIns="0" bIns="0" rtlCol="0" anchor="ctr"/>
          <a:lstStyle/>
          <a:p>
            <a:pPr algn="l" indent="0" marL="0">
              <a:buNone/>
            </a:pPr>
            <a:r>
              <a:rPr lang="en-US" sz="2200" b="1" dirty="0">
                <a:solidFill>
                  <a:schemeClr val="tx1"/>
                </a:solidFill>
              </a:rPr>
              <a:t>DocDesk: a front desk that runs itself</a:t>
            </a:r>
            <a:endParaRPr lang="en-US" sz="2200" dirty="0"/>
          </a:p>
        </p:txBody>
      </p:sp>
      <p:sp>
        <p:nvSpPr>
          <p:cNvPr id="5" name="Subtitle"/>
          <p:cNvSpPr txBox="1"/>
          <p:nvPr/>
        </p:nvSpPr>
        <p:spPr>
          <a:xfrm>
            <a:off x="1389888" y="804672"/>
            <a:ext cx="10241280" cy="329184"/>
          </a:xfrm>
          <a:prstGeom prst="rect">
            <a:avLst/>
          </a:prstGeom>
          <a:noFill/>
          <a:ln/>
        </p:spPr>
        <p:txBody>
          <a:bodyPr wrap="square" lIns="0" tIns="0" rIns="0" bIns="0" rtlCol="0" anchor="ctr"/>
          <a:lstStyle/>
          <a:p>
            <a:pPr algn="l" indent="0" marL="0">
              <a:buNone/>
            </a:pPr>
            <a:r>
              <a:rPr lang="en-US" sz="1800" dirty="0">
                <a:solidFill>
                  <a:schemeClr val="tx2"/>
                </a:solidFill>
              </a:rPr>
              <a:t>For small clinics and shops still getting by on a spreadsheet. No technical skill needed.</a:t>
            </a:r>
            <a:endParaRPr lang="en-US" sz="1800" dirty="0"/>
          </a:p>
        </p:txBody>
      </p:sp>
      <p:sp>
        <p:nvSpPr>
          <p:cNvPr id="6" name="Today heading"/>
          <p:cNvSpPr txBox="1"/>
          <p:nvPr/>
        </p:nvSpPr>
        <p:spPr>
          <a:xfrm>
            <a:off x="548640" y="1572768"/>
            <a:ext cx="2834640" cy="365760"/>
          </a:xfrm>
          <a:prstGeom prst="rect">
            <a:avLst/>
          </a:prstGeom>
          <a:noFill/>
          <a:ln/>
        </p:spPr>
        <p:txBody>
          <a:bodyPr wrap="square" lIns="0" tIns="0" rIns="0" bIns="0" rtlCol="0" anchor="ctr"/>
          <a:lstStyle/>
          <a:p>
            <a:pPr algn="l" indent="0" marL="0">
              <a:buNone/>
            </a:pPr>
            <a:r>
              <a:rPr lang="en-US" sz="2000" b="1" dirty="0">
                <a:solidFill>
                  <a:schemeClr val="tx1"/>
                </a:solidFill>
              </a:rPr>
              <a:t>Today</a:t>
            </a:r>
            <a:endParaRPr lang="en-US" sz="2000" dirty="0"/>
          </a:p>
        </p:txBody>
      </p:sp>
      <p:sp>
        <p:nvSpPr>
          <p:cNvPr id="7" name="Stock in Excel card"/>
          <p:cNvSpPr/>
          <p:nvPr/>
        </p:nvSpPr>
        <p:spPr>
          <a:xfrm>
            <a:off x="548640" y="2103120"/>
            <a:ext cx="2834640" cy="731520"/>
          </a:xfrm>
          <a:prstGeom prst="roundRect">
            <a:avLst>
              <a:gd name="adj" fmla="val 25000"/>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8" name="Stock in Excel circle"/>
          <p:cNvSpPr/>
          <p:nvPr/>
        </p:nvSpPr>
        <p:spPr>
          <a:xfrm>
            <a:off x="694944" y="2231136"/>
            <a:ext cx="475488" cy="475488"/>
          </a:xfrm>
          <a:prstGeom prst="ellipse">
            <a:avLst/>
          </a:prstGeom>
          <a:solidFill>
            <a:schemeClr val="tx2">
              <a:alpha val="14000"/>
            </a:schemeClr>
          </a:solidFill>
          <a:ln/>
        </p:spPr>
      </p:sp>
      <p:pic>
        <p:nvPicPr>
          <p:cNvPr id="9" name="Image 1" descr="Stock in Excel icon">    </p:cNvPr>
          <p:cNvPicPr>
            <a:picLocks noChangeAspect="1"/>
          </p:cNvPicPr>
          <p:nvPr/>
        </p:nvPicPr>
        <p:blipFill>
          <a:blip r:embed="rId2"/>
          <a:stretch>
            <a:fillRect/>
          </a:stretch>
        </p:blipFill>
        <p:spPr>
          <a:xfrm>
            <a:off x="809061" y="2345253"/>
            <a:ext cx="247254" cy="247254"/>
          </a:xfrm>
          <a:prstGeom prst="rect">
            <a:avLst/>
          </a:prstGeom>
        </p:spPr>
      </p:pic>
      <p:sp>
        <p:nvSpPr>
          <p:cNvPr id="10" name="Stock in Excel"/>
          <p:cNvSpPr txBox="1"/>
          <p:nvPr/>
        </p:nvSpPr>
        <p:spPr>
          <a:xfrm>
            <a:off x="1316736" y="2103120"/>
            <a:ext cx="2048256" cy="731520"/>
          </a:xfrm>
          <a:prstGeom prst="rect">
            <a:avLst/>
          </a:prstGeom>
          <a:noFill/>
          <a:ln/>
        </p:spPr>
        <p:txBody>
          <a:bodyPr wrap="square" lIns="0" tIns="0" rIns="0" bIns="0" rtlCol="0" anchor="ctr"/>
          <a:lstStyle/>
          <a:p>
            <a:pPr algn="l" indent="0" marL="0">
              <a:buNone/>
            </a:pPr>
            <a:r>
              <a:rPr lang="en-US" sz="1800" dirty="0">
                <a:solidFill>
                  <a:schemeClr val="tx1"/>
                </a:solidFill>
              </a:rPr>
              <a:t>Stock in Excel</a:t>
            </a:r>
            <a:endParaRPr lang="en-US" sz="1800" dirty="0"/>
          </a:p>
        </p:txBody>
      </p:sp>
      <p:sp>
        <p:nvSpPr>
          <p:cNvPr id="11" name="Bills by hand card"/>
          <p:cNvSpPr/>
          <p:nvPr/>
        </p:nvSpPr>
        <p:spPr>
          <a:xfrm>
            <a:off x="548640" y="3026664"/>
            <a:ext cx="2834640" cy="731520"/>
          </a:xfrm>
          <a:prstGeom prst="roundRect">
            <a:avLst>
              <a:gd name="adj" fmla="val 25000"/>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12" name="Bills by hand circle"/>
          <p:cNvSpPr/>
          <p:nvPr/>
        </p:nvSpPr>
        <p:spPr>
          <a:xfrm>
            <a:off x="694944" y="3154680"/>
            <a:ext cx="475488" cy="475488"/>
          </a:xfrm>
          <a:prstGeom prst="ellipse">
            <a:avLst/>
          </a:prstGeom>
          <a:solidFill>
            <a:schemeClr val="tx2">
              <a:alpha val="14000"/>
            </a:schemeClr>
          </a:solidFill>
          <a:ln/>
        </p:spPr>
      </p:sp>
      <p:pic>
        <p:nvPicPr>
          <p:cNvPr id="13" name="Image 2" descr="Bills by hand icon">    </p:cNvPr>
          <p:cNvPicPr>
            <a:picLocks noChangeAspect="1"/>
          </p:cNvPicPr>
          <p:nvPr/>
        </p:nvPicPr>
        <p:blipFill>
          <a:blip r:embed="rId3"/>
          <a:stretch>
            <a:fillRect/>
          </a:stretch>
        </p:blipFill>
        <p:spPr>
          <a:xfrm>
            <a:off x="809061" y="3268797"/>
            <a:ext cx="247254" cy="247254"/>
          </a:xfrm>
          <a:prstGeom prst="rect">
            <a:avLst/>
          </a:prstGeom>
        </p:spPr>
      </p:pic>
      <p:sp>
        <p:nvSpPr>
          <p:cNvPr id="14" name="Bills by hand"/>
          <p:cNvSpPr txBox="1"/>
          <p:nvPr/>
        </p:nvSpPr>
        <p:spPr>
          <a:xfrm>
            <a:off x="1316736" y="3026664"/>
            <a:ext cx="2048256" cy="731520"/>
          </a:xfrm>
          <a:prstGeom prst="rect">
            <a:avLst/>
          </a:prstGeom>
          <a:noFill/>
          <a:ln/>
        </p:spPr>
        <p:txBody>
          <a:bodyPr wrap="square" lIns="0" tIns="0" rIns="0" bIns="0" rtlCol="0" anchor="ctr"/>
          <a:lstStyle/>
          <a:p>
            <a:pPr algn="l" indent="0" marL="0">
              <a:buNone/>
            </a:pPr>
            <a:r>
              <a:rPr lang="en-US" sz="1800" dirty="0">
                <a:solidFill>
                  <a:schemeClr val="tx1"/>
                </a:solidFill>
              </a:rPr>
              <a:t>Bills by hand</a:t>
            </a:r>
            <a:endParaRPr lang="en-US" sz="1800" dirty="0"/>
          </a:p>
        </p:txBody>
      </p:sp>
      <p:sp>
        <p:nvSpPr>
          <p:cNvPr id="15" name="Bookings on paper card"/>
          <p:cNvSpPr/>
          <p:nvPr/>
        </p:nvSpPr>
        <p:spPr>
          <a:xfrm>
            <a:off x="548640" y="3950208"/>
            <a:ext cx="2834640" cy="731520"/>
          </a:xfrm>
          <a:prstGeom prst="roundRect">
            <a:avLst>
              <a:gd name="adj" fmla="val 25000"/>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16" name="Bookings on paper circle"/>
          <p:cNvSpPr/>
          <p:nvPr/>
        </p:nvSpPr>
        <p:spPr>
          <a:xfrm>
            <a:off x="694944" y="4078224"/>
            <a:ext cx="475488" cy="475488"/>
          </a:xfrm>
          <a:prstGeom prst="ellipse">
            <a:avLst/>
          </a:prstGeom>
          <a:solidFill>
            <a:schemeClr val="tx2">
              <a:alpha val="14000"/>
            </a:schemeClr>
          </a:solidFill>
          <a:ln/>
        </p:spPr>
      </p:sp>
      <p:pic>
        <p:nvPicPr>
          <p:cNvPr id="17" name="Image 3" descr="Bookings on paper icon">    </p:cNvPr>
          <p:cNvPicPr>
            <a:picLocks noChangeAspect="1"/>
          </p:cNvPicPr>
          <p:nvPr/>
        </p:nvPicPr>
        <p:blipFill>
          <a:blip r:embed="rId4"/>
          <a:stretch>
            <a:fillRect/>
          </a:stretch>
        </p:blipFill>
        <p:spPr>
          <a:xfrm>
            <a:off x="809061" y="4192341"/>
            <a:ext cx="247254" cy="247254"/>
          </a:xfrm>
          <a:prstGeom prst="rect">
            <a:avLst/>
          </a:prstGeom>
        </p:spPr>
      </p:pic>
      <p:sp>
        <p:nvSpPr>
          <p:cNvPr id="18" name="Bookings on paper"/>
          <p:cNvSpPr txBox="1"/>
          <p:nvPr/>
        </p:nvSpPr>
        <p:spPr>
          <a:xfrm>
            <a:off x="1316736" y="3950208"/>
            <a:ext cx="2048256" cy="731520"/>
          </a:xfrm>
          <a:prstGeom prst="rect">
            <a:avLst/>
          </a:prstGeom>
          <a:noFill/>
          <a:ln/>
        </p:spPr>
        <p:txBody>
          <a:bodyPr wrap="square" lIns="0" tIns="0" rIns="0" bIns="0" rtlCol="0" anchor="ctr"/>
          <a:lstStyle/>
          <a:p>
            <a:pPr algn="l" indent="0" marL="0">
              <a:buNone/>
            </a:pPr>
            <a:r>
              <a:rPr lang="en-US" sz="1800" dirty="0">
                <a:solidFill>
                  <a:schemeClr val="tx1"/>
                </a:solidFill>
              </a:rPr>
              <a:t>Bookings on paper</a:t>
            </a:r>
            <a:endParaRPr lang="en-US" sz="1800" dirty="0"/>
          </a:p>
        </p:txBody>
      </p:sp>
      <p:sp>
        <p:nvSpPr>
          <p:cNvPr id="19" name="With DocDesk heading"/>
          <p:cNvSpPr txBox="1"/>
          <p:nvPr/>
        </p:nvSpPr>
        <p:spPr>
          <a:xfrm>
            <a:off x="8805672" y="1572768"/>
            <a:ext cx="2834640" cy="365760"/>
          </a:xfrm>
          <a:prstGeom prst="rect">
            <a:avLst/>
          </a:prstGeom>
          <a:noFill/>
          <a:ln/>
        </p:spPr>
        <p:txBody>
          <a:bodyPr wrap="square" lIns="0" tIns="0" rIns="0" bIns="0" rtlCol="0" anchor="ctr"/>
          <a:lstStyle/>
          <a:p>
            <a:pPr algn="l" indent="0" marL="0">
              <a:buNone/>
            </a:pPr>
            <a:r>
              <a:rPr lang="en-US" sz="2000" b="1" dirty="0">
                <a:solidFill>
                  <a:schemeClr val="tx1"/>
                </a:solidFill>
              </a:rPr>
              <a:t>With DocDesk</a:t>
            </a:r>
            <a:endParaRPr lang="en-US" sz="2000" dirty="0"/>
          </a:p>
        </p:txBody>
      </p:sp>
      <p:sp>
        <p:nvSpPr>
          <p:cNvPr id="20" name="Stock counts itself card"/>
          <p:cNvSpPr/>
          <p:nvPr/>
        </p:nvSpPr>
        <p:spPr>
          <a:xfrm>
            <a:off x="8805672" y="2103120"/>
            <a:ext cx="2834640" cy="731520"/>
          </a:xfrm>
          <a:prstGeom prst="roundRect">
            <a:avLst>
              <a:gd name="adj" fmla="val 25000"/>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21" name="Stock counts itself circle"/>
          <p:cNvSpPr/>
          <p:nvPr/>
        </p:nvSpPr>
        <p:spPr>
          <a:xfrm>
            <a:off x="8951976" y="2231136"/>
            <a:ext cx="475488" cy="475488"/>
          </a:xfrm>
          <a:prstGeom prst="ellipse">
            <a:avLst/>
          </a:prstGeom>
          <a:solidFill>
            <a:schemeClr val="accent2">
              <a:alpha val="14000"/>
            </a:schemeClr>
          </a:solidFill>
          <a:ln/>
        </p:spPr>
      </p:sp>
      <p:pic>
        <p:nvPicPr>
          <p:cNvPr id="22" name="Image 4" descr="Stock counts itself icon">    </p:cNvPr>
          <p:cNvPicPr>
            <a:picLocks noChangeAspect="1"/>
          </p:cNvPicPr>
          <p:nvPr/>
        </p:nvPicPr>
        <p:blipFill>
          <a:blip r:embed="rId5"/>
          <a:stretch>
            <a:fillRect/>
          </a:stretch>
        </p:blipFill>
        <p:spPr>
          <a:xfrm>
            <a:off x="9066093" y="2345253"/>
            <a:ext cx="247254" cy="247254"/>
          </a:xfrm>
          <a:prstGeom prst="rect">
            <a:avLst/>
          </a:prstGeom>
        </p:spPr>
      </p:pic>
      <p:sp>
        <p:nvSpPr>
          <p:cNvPr id="23" name="Stock counts itself"/>
          <p:cNvSpPr txBox="1"/>
          <p:nvPr/>
        </p:nvSpPr>
        <p:spPr>
          <a:xfrm>
            <a:off x="9573768" y="2103120"/>
            <a:ext cx="2048256" cy="731520"/>
          </a:xfrm>
          <a:prstGeom prst="rect">
            <a:avLst/>
          </a:prstGeom>
          <a:noFill/>
          <a:ln/>
        </p:spPr>
        <p:txBody>
          <a:bodyPr wrap="square" lIns="0" tIns="0" rIns="0" bIns="0" rtlCol="0" anchor="ctr"/>
          <a:lstStyle/>
          <a:p>
            <a:pPr algn="l" indent="0" marL="0">
              <a:buNone/>
            </a:pPr>
            <a:r>
              <a:rPr lang="en-US" sz="1800" dirty="0">
                <a:solidFill>
                  <a:schemeClr val="tx1"/>
                </a:solidFill>
              </a:rPr>
              <a:t>Stock counts itself</a:t>
            </a:r>
            <a:endParaRPr lang="en-US" sz="1800" dirty="0"/>
          </a:p>
        </p:txBody>
      </p:sp>
      <p:sp>
        <p:nvSpPr>
          <p:cNvPr id="24" name="Instant receipts card"/>
          <p:cNvSpPr/>
          <p:nvPr/>
        </p:nvSpPr>
        <p:spPr>
          <a:xfrm>
            <a:off x="8805672" y="3026664"/>
            <a:ext cx="2834640" cy="731520"/>
          </a:xfrm>
          <a:prstGeom prst="roundRect">
            <a:avLst>
              <a:gd name="adj" fmla="val 25000"/>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25" name="Instant receipts circle"/>
          <p:cNvSpPr/>
          <p:nvPr/>
        </p:nvSpPr>
        <p:spPr>
          <a:xfrm>
            <a:off x="8951976" y="3154680"/>
            <a:ext cx="475488" cy="475488"/>
          </a:xfrm>
          <a:prstGeom prst="ellipse">
            <a:avLst/>
          </a:prstGeom>
          <a:solidFill>
            <a:schemeClr val="accent2">
              <a:alpha val="14000"/>
            </a:schemeClr>
          </a:solidFill>
          <a:ln/>
        </p:spPr>
      </p:sp>
      <p:pic>
        <p:nvPicPr>
          <p:cNvPr id="26" name="Image 5" descr="Instant receipts icon">    </p:cNvPr>
          <p:cNvPicPr>
            <a:picLocks noChangeAspect="1"/>
          </p:cNvPicPr>
          <p:nvPr/>
        </p:nvPicPr>
        <p:blipFill>
          <a:blip r:embed="rId6"/>
          <a:stretch>
            <a:fillRect/>
          </a:stretch>
        </p:blipFill>
        <p:spPr>
          <a:xfrm>
            <a:off x="9066093" y="3268797"/>
            <a:ext cx="247254" cy="247254"/>
          </a:xfrm>
          <a:prstGeom prst="rect">
            <a:avLst/>
          </a:prstGeom>
        </p:spPr>
      </p:pic>
      <p:sp>
        <p:nvSpPr>
          <p:cNvPr id="27" name="Instant receipts"/>
          <p:cNvSpPr txBox="1"/>
          <p:nvPr/>
        </p:nvSpPr>
        <p:spPr>
          <a:xfrm>
            <a:off x="9573768" y="3026664"/>
            <a:ext cx="2048256" cy="731520"/>
          </a:xfrm>
          <a:prstGeom prst="rect">
            <a:avLst/>
          </a:prstGeom>
          <a:noFill/>
          <a:ln/>
        </p:spPr>
        <p:txBody>
          <a:bodyPr wrap="square" lIns="0" tIns="0" rIns="0" bIns="0" rtlCol="0" anchor="ctr"/>
          <a:lstStyle/>
          <a:p>
            <a:pPr algn="l" indent="0" marL="0">
              <a:buNone/>
            </a:pPr>
            <a:r>
              <a:rPr lang="en-US" sz="1800" dirty="0">
                <a:solidFill>
                  <a:schemeClr val="tx1"/>
                </a:solidFill>
              </a:rPr>
              <a:t>Instant receipts</a:t>
            </a:r>
            <a:endParaRPr lang="en-US" sz="1800" dirty="0"/>
          </a:p>
        </p:txBody>
      </p:sp>
      <p:sp>
        <p:nvSpPr>
          <p:cNvPr id="28" name="No double bookings card"/>
          <p:cNvSpPr/>
          <p:nvPr/>
        </p:nvSpPr>
        <p:spPr>
          <a:xfrm>
            <a:off x="8805672" y="3950208"/>
            <a:ext cx="2834640" cy="731520"/>
          </a:xfrm>
          <a:prstGeom prst="roundRect">
            <a:avLst>
              <a:gd name="adj" fmla="val 25000"/>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29" name="No double bookings circle"/>
          <p:cNvSpPr/>
          <p:nvPr/>
        </p:nvSpPr>
        <p:spPr>
          <a:xfrm>
            <a:off x="8951976" y="4078224"/>
            <a:ext cx="475488" cy="475488"/>
          </a:xfrm>
          <a:prstGeom prst="ellipse">
            <a:avLst/>
          </a:prstGeom>
          <a:solidFill>
            <a:schemeClr val="accent2">
              <a:alpha val="14000"/>
            </a:schemeClr>
          </a:solidFill>
          <a:ln/>
        </p:spPr>
      </p:sp>
      <p:pic>
        <p:nvPicPr>
          <p:cNvPr id="30" name="Image 6" descr="No double bookings icon">    </p:cNvPr>
          <p:cNvPicPr>
            <a:picLocks noChangeAspect="1"/>
          </p:cNvPicPr>
          <p:nvPr/>
        </p:nvPicPr>
        <p:blipFill>
          <a:blip r:embed="rId7"/>
          <a:stretch>
            <a:fillRect/>
          </a:stretch>
        </p:blipFill>
        <p:spPr>
          <a:xfrm>
            <a:off x="9066093" y="4192341"/>
            <a:ext cx="247254" cy="247254"/>
          </a:xfrm>
          <a:prstGeom prst="rect">
            <a:avLst/>
          </a:prstGeom>
        </p:spPr>
      </p:pic>
      <p:sp>
        <p:nvSpPr>
          <p:cNvPr id="31" name="No double bookings"/>
          <p:cNvSpPr txBox="1"/>
          <p:nvPr/>
        </p:nvSpPr>
        <p:spPr>
          <a:xfrm>
            <a:off x="9573768" y="3950208"/>
            <a:ext cx="2048256" cy="731520"/>
          </a:xfrm>
          <a:prstGeom prst="rect">
            <a:avLst/>
          </a:prstGeom>
          <a:noFill/>
          <a:ln/>
        </p:spPr>
        <p:txBody>
          <a:bodyPr wrap="square" lIns="0" tIns="0" rIns="0" bIns="0" rtlCol="0" anchor="ctr"/>
          <a:lstStyle/>
          <a:p>
            <a:pPr algn="l" indent="0" marL="0">
              <a:buNone/>
            </a:pPr>
            <a:r>
              <a:rPr lang="en-US" sz="1800" dirty="0">
                <a:solidFill>
                  <a:schemeClr val="tx1"/>
                </a:solidFill>
              </a:rPr>
              <a:t>No double bookings</a:t>
            </a:r>
            <a:endParaRPr lang="en-US" sz="1800" dirty="0"/>
          </a:p>
        </p:txBody>
      </p:sp>
      <p:pic>
        <p:nvPicPr>
          <p:cNvPr id="32" name="Image 7" descr="leads to">    </p:cNvPr>
          <p:cNvPicPr>
            <a:picLocks noChangeAspect="1"/>
          </p:cNvPicPr>
          <p:nvPr/>
        </p:nvPicPr>
        <p:blipFill>
          <a:blip r:embed="rId8"/>
          <a:stretch>
            <a:fillRect/>
          </a:stretch>
        </p:blipFill>
        <p:spPr>
          <a:xfrm>
            <a:off x="3399282" y="3264408"/>
            <a:ext cx="256032" cy="256032"/>
          </a:xfrm>
          <a:prstGeom prst="rect">
            <a:avLst/>
          </a:prstGeom>
        </p:spPr>
      </p:pic>
      <p:pic>
        <p:nvPicPr>
          <p:cNvPr id="33" name="Image 8" descr="leads to">    </p:cNvPr>
          <p:cNvPicPr>
            <a:picLocks noChangeAspect="1"/>
          </p:cNvPicPr>
          <p:nvPr/>
        </p:nvPicPr>
        <p:blipFill>
          <a:blip r:embed="rId9"/>
          <a:stretch>
            <a:fillRect/>
          </a:stretch>
        </p:blipFill>
        <p:spPr>
          <a:xfrm>
            <a:off x="8533638" y="3264408"/>
            <a:ext cx="256032" cy="256032"/>
          </a:xfrm>
          <a:prstGeom prst="rect">
            <a:avLst/>
          </a:prstGeom>
        </p:spPr>
      </p:pic>
      <p:sp>
        <p:nvSpPr>
          <p:cNvPr id="34" name="DocDesk card"/>
          <p:cNvSpPr/>
          <p:nvPr/>
        </p:nvSpPr>
        <p:spPr>
          <a:xfrm>
            <a:off x="3671316" y="1572768"/>
            <a:ext cx="4846320" cy="3108960"/>
          </a:xfrm>
          <a:prstGeom prst="roundRect">
            <a:avLst>
              <a:gd name="adj" fmla="val 4706"/>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35" name="DocDesk card heading"/>
          <p:cNvSpPr txBox="1"/>
          <p:nvPr/>
        </p:nvSpPr>
        <p:spPr>
          <a:xfrm>
            <a:off x="3991356" y="1792224"/>
            <a:ext cx="4206240" cy="365760"/>
          </a:xfrm>
          <a:prstGeom prst="rect">
            <a:avLst/>
          </a:prstGeom>
          <a:noFill/>
          <a:ln/>
        </p:spPr>
        <p:txBody>
          <a:bodyPr wrap="square" lIns="0" tIns="0" rIns="0" bIns="0" rtlCol="0" anchor="ctr"/>
          <a:lstStyle/>
          <a:p>
            <a:pPr algn="ctr" indent="0" marL="0">
              <a:buNone/>
            </a:pPr>
            <a:r>
              <a:rPr lang="en-US" sz="2000" b="1" dirty="0">
                <a:solidFill>
                  <a:schemeClr val="tx1"/>
                </a:solidFill>
              </a:rPr>
              <a:t>One app for the whole front desk</a:t>
            </a:r>
            <a:endParaRPr lang="en-US" sz="2000" dirty="0"/>
          </a:p>
        </p:txBody>
      </p:sp>
      <p:sp>
        <p:nvSpPr>
          <p:cNvPr id="36" name="Inventory circle"/>
          <p:cNvSpPr/>
          <p:nvPr/>
        </p:nvSpPr>
        <p:spPr>
          <a:xfrm>
            <a:off x="4338828" y="2395728"/>
            <a:ext cx="585216" cy="585216"/>
          </a:xfrm>
          <a:prstGeom prst="ellipse">
            <a:avLst/>
          </a:prstGeom>
          <a:solidFill>
            <a:schemeClr val="accent1">
              <a:alpha val="12000"/>
            </a:schemeClr>
          </a:solidFill>
          <a:ln/>
        </p:spPr>
      </p:sp>
      <p:pic>
        <p:nvPicPr>
          <p:cNvPr id="37" name="Image 9" descr="Inventory icon">    </p:cNvPr>
          <p:cNvPicPr>
            <a:picLocks noChangeAspect="1"/>
          </p:cNvPicPr>
          <p:nvPr/>
        </p:nvPicPr>
        <p:blipFill>
          <a:blip r:embed="rId10"/>
          <a:stretch>
            <a:fillRect/>
          </a:stretch>
        </p:blipFill>
        <p:spPr>
          <a:xfrm>
            <a:off x="4479280" y="2536180"/>
            <a:ext cx="304312" cy="304312"/>
          </a:xfrm>
          <a:prstGeom prst="rect">
            <a:avLst/>
          </a:prstGeom>
        </p:spPr>
      </p:pic>
      <p:sp>
        <p:nvSpPr>
          <p:cNvPr id="38" name="Inventory"/>
          <p:cNvSpPr txBox="1"/>
          <p:nvPr/>
        </p:nvSpPr>
        <p:spPr>
          <a:xfrm>
            <a:off x="3762756" y="3054096"/>
            <a:ext cx="1737360" cy="310896"/>
          </a:xfrm>
          <a:prstGeom prst="rect">
            <a:avLst/>
          </a:prstGeom>
          <a:noFill/>
          <a:ln/>
        </p:spPr>
        <p:txBody>
          <a:bodyPr wrap="square" lIns="0" tIns="0" rIns="0" bIns="0" rtlCol="0" anchor="ctr"/>
          <a:lstStyle/>
          <a:p>
            <a:pPr algn="ctr" indent="0" marL="0">
              <a:buNone/>
            </a:pPr>
            <a:r>
              <a:rPr lang="en-US" sz="1800" dirty="0">
                <a:solidFill>
                  <a:schemeClr val="tx1"/>
                </a:solidFill>
              </a:rPr>
              <a:t>Inventory</a:t>
            </a:r>
            <a:endParaRPr lang="en-US" sz="1800" dirty="0"/>
          </a:p>
        </p:txBody>
      </p:sp>
      <p:sp>
        <p:nvSpPr>
          <p:cNvPr id="39" name="Sales circle"/>
          <p:cNvSpPr/>
          <p:nvPr/>
        </p:nvSpPr>
        <p:spPr>
          <a:xfrm>
            <a:off x="5801868" y="2395728"/>
            <a:ext cx="585216" cy="585216"/>
          </a:xfrm>
          <a:prstGeom prst="ellipse">
            <a:avLst/>
          </a:prstGeom>
          <a:solidFill>
            <a:schemeClr val="accent1">
              <a:alpha val="12000"/>
            </a:schemeClr>
          </a:solidFill>
          <a:ln/>
        </p:spPr>
      </p:sp>
      <p:pic>
        <p:nvPicPr>
          <p:cNvPr id="40" name="Image 10" descr="Sales icon">    </p:cNvPr>
          <p:cNvPicPr>
            <a:picLocks noChangeAspect="1"/>
          </p:cNvPicPr>
          <p:nvPr/>
        </p:nvPicPr>
        <p:blipFill>
          <a:blip r:embed="rId11"/>
          <a:stretch>
            <a:fillRect/>
          </a:stretch>
        </p:blipFill>
        <p:spPr>
          <a:xfrm>
            <a:off x="5942320" y="2536180"/>
            <a:ext cx="304312" cy="304312"/>
          </a:xfrm>
          <a:prstGeom prst="rect">
            <a:avLst/>
          </a:prstGeom>
        </p:spPr>
      </p:pic>
      <p:sp>
        <p:nvSpPr>
          <p:cNvPr id="41" name="Sales"/>
          <p:cNvSpPr txBox="1"/>
          <p:nvPr/>
        </p:nvSpPr>
        <p:spPr>
          <a:xfrm>
            <a:off x="5225796" y="3054096"/>
            <a:ext cx="1737360" cy="310896"/>
          </a:xfrm>
          <a:prstGeom prst="rect">
            <a:avLst/>
          </a:prstGeom>
          <a:noFill/>
          <a:ln/>
        </p:spPr>
        <p:txBody>
          <a:bodyPr wrap="square" lIns="0" tIns="0" rIns="0" bIns="0" rtlCol="0" anchor="ctr"/>
          <a:lstStyle/>
          <a:p>
            <a:pPr algn="ctr" indent="0" marL="0">
              <a:buNone/>
            </a:pPr>
            <a:r>
              <a:rPr lang="en-US" sz="1800" dirty="0">
                <a:solidFill>
                  <a:schemeClr val="tx1"/>
                </a:solidFill>
              </a:rPr>
              <a:t>Sales</a:t>
            </a:r>
            <a:endParaRPr lang="en-US" sz="1800" dirty="0"/>
          </a:p>
        </p:txBody>
      </p:sp>
      <p:sp>
        <p:nvSpPr>
          <p:cNvPr id="42" name="Customers circle"/>
          <p:cNvSpPr/>
          <p:nvPr/>
        </p:nvSpPr>
        <p:spPr>
          <a:xfrm>
            <a:off x="7264908" y="2395728"/>
            <a:ext cx="585216" cy="585216"/>
          </a:xfrm>
          <a:prstGeom prst="ellipse">
            <a:avLst/>
          </a:prstGeom>
          <a:solidFill>
            <a:schemeClr val="accent1">
              <a:alpha val="12000"/>
            </a:schemeClr>
          </a:solidFill>
          <a:ln/>
        </p:spPr>
      </p:sp>
      <p:pic>
        <p:nvPicPr>
          <p:cNvPr id="43" name="Image 11" descr="Customers icon">    </p:cNvPr>
          <p:cNvPicPr>
            <a:picLocks noChangeAspect="1"/>
          </p:cNvPicPr>
          <p:nvPr/>
        </p:nvPicPr>
        <p:blipFill>
          <a:blip r:embed="rId12"/>
          <a:stretch>
            <a:fillRect/>
          </a:stretch>
        </p:blipFill>
        <p:spPr>
          <a:xfrm>
            <a:off x="7405360" y="2536180"/>
            <a:ext cx="304312" cy="304312"/>
          </a:xfrm>
          <a:prstGeom prst="rect">
            <a:avLst/>
          </a:prstGeom>
        </p:spPr>
      </p:pic>
      <p:sp>
        <p:nvSpPr>
          <p:cNvPr id="44" name="Customers"/>
          <p:cNvSpPr txBox="1"/>
          <p:nvPr/>
        </p:nvSpPr>
        <p:spPr>
          <a:xfrm>
            <a:off x="6688836" y="3054096"/>
            <a:ext cx="1737360" cy="310896"/>
          </a:xfrm>
          <a:prstGeom prst="rect">
            <a:avLst/>
          </a:prstGeom>
          <a:noFill/>
          <a:ln/>
        </p:spPr>
        <p:txBody>
          <a:bodyPr wrap="square" lIns="0" tIns="0" rIns="0" bIns="0" rtlCol="0" anchor="ctr"/>
          <a:lstStyle/>
          <a:p>
            <a:pPr algn="ctr" indent="0" marL="0">
              <a:buNone/>
            </a:pPr>
            <a:r>
              <a:rPr lang="en-US" sz="1800" dirty="0">
                <a:solidFill>
                  <a:schemeClr val="tx1"/>
                </a:solidFill>
              </a:rPr>
              <a:t>Customers</a:t>
            </a:r>
            <a:endParaRPr lang="en-US" sz="1800" dirty="0"/>
          </a:p>
        </p:txBody>
      </p:sp>
      <p:sp>
        <p:nvSpPr>
          <p:cNvPr id="45" name="Suppliers circle"/>
          <p:cNvSpPr/>
          <p:nvPr/>
        </p:nvSpPr>
        <p:spPr>
          <a:xfrm>
            <a:off x="4338828" y="3511296"/>
            <a:ext cx="585216" cy="585216"/>
          </a:xfrm>
          <a:prstGeom prst="ellipse">
            <a:avLst/>
          </a:prstGeom>
          <a:solidFill>
            <a:schemeClr val="accent1">
              <a:alpha val="12000"/>
            </a:schemeClr>
          </a:solidFill>
          <a:ln/>
        </p:spPr>
      </p:sp>
      <p:pic>
        <p:nvPicPr>
          <p:cNvPr id="46" name="Image 12" descr="Suppliers icon">    </p:cNvPr>
          <p:cNvPicPr>
            <a:picLocks noChangeAspect="1"/>
          </p:cNvPicPr>
          <p:nvPr/>
        </p:nvPicPr>
        <p:blipFill>
          <a:blip r:embed="rId13"/>
          <a:stretch>
            <a:fillRect/>
          </a:stretch>
        </p:blipFill>
        <p:spPr>
          <a:xfrm>
            <a:off x="4479280" y="3651748"/>
            <a:ext cx="304312" cy="304312"/>
          </a:xfrm>
          <a:prstGeom prst="rect">
            <a:avLst/>
          </a:prstGeom>
        </p:spPr>
      </p:pic>
      <p:sp>
        <p:nvSpPr>
          <p:cNvPr id="47" name="Suppliers"/>
          <p:cNvSpPr txBox="1"/>
          <p:nvPr/>
        </p:nvSpPr>
        <p:spPr>
          <a:xfrm>
            <a:off x="3762756" y="4169664"/>
            <a:ext cx="1737360" cy="310896"/>
          </a:xfrm>
          <a:prstGeom prst="rect">
            <a:avLst/>
          </a:prstGeom>
          <a:noFill/>
          <a:ln/>
        </p:spPr>
        <p:txBody>
          <a:bodyPr wrap="square" lIns="0" tIns="0" rIns="0" bIns="0" rtlCol="0" anchor="ctr"/>
          <a:lstStyle/>
          <a:p>
            <a:pPr algn="ctr" indent="0" marL="0">
              <a:buNone/>
            </a:pPr>
            <a:r>
              <a:rPr lang="en-US" sz="1800" dirty="0">
                <a:solidFill>
                  <a:schemeClr val="tx1"/>
                </a:solidFill>
              </a:rPr>
              <a:t>Suppliers</a:t>
            </a:r>
            <a:endParaRPr lang="en-US" sz="1800" dirty="0"/>
          </a:p>
        </p:txBody>
      </p:sp>
      <p:sp>
        <p:nvSpPr>
          <p:cNvPr id="48" name="Appointments circle"/>
          <p:cNvSpPr/>
          <p:nvPr/>
        </p:nvSpPr>
        <p:spPr>
          <a:xfrm>
            <a:off x="5801868" y="3511296"/>
            <a:ext cx="585216" cy="585216"/>
          </a:xfrm>
          <a:prstGeom prst="ellipse">
            <a:avLst/>
          </a:prstGeom>
          <a:solidFill>
            <a:schemeClr val="accent1">
              <a:alpha val="12000"/>
            </a:schemeClr>
          </a:solidFill>
          <a:ln/>
        </p:spPr>
      </p:sp>
      <p:pic>
        <p:nvPicPr>
          <p:cNvPr id="49" name="Image 13" descr="Appointments icon">    </p:cNvPr>
          <p:cNvPicPr>
            <a:picLocks noChangeAspect="1"/>
          </p:cNvPicPr>
          <p:nvPr/>
        </p:nvPicPr>
        <p:blipFill>
          <a:blip r:embed="rId14"/>
          <a:stretch>
            <a:fillRect/>
          </a:stretch>
        </p:blipFill>
        <p:spPr>
          <a:xfrm>
            <a:off x="5942320" y="3651748"/>
            <a:ext cx="304312" cy="304312"/>
          </a:xfrm>
          <a:prstGeom prst="rect">
            <a:avLst/>
          </a:prstGeom>
        </p:spPr>
      </p:pic>
      <p:sp>
        <p:nvSpPr>
          <p:cNvPr id="50" name="Appointments"/>
          <p:cNvSpPr txBox="1"/>
          <p:nvPr/>
        </p:nvSpPr>
        <p:spPr>
          <a:xfrm>
            <a:off x="5225796" y="4169664"/>
            <a:ext cx="1737360" cy="310896"/>
          </a:xfrm>
          <a:prstGeom prst="rect">
            <a:avLst/>
          </a:prstGeom>
          <a:noFill/>
          <a:ln/>
        </p:spPr>
        <p:txBody>
          <a:bodyPr wrap="square" lIns="0" tIns="0" rIns="0" bIns="0" rtlCol="0" anchor="ctr"/>
          <a:lstStyle/>
          <a:p>
            <a:pPr algn="ctr" indent="0" marL="0">
              <a:buNone/>
            </a:pPr>
            <a:r>
              <a:rPr lang="en-US" sz="1800" dirty="0">
                <a:solidFill>
                  <a:schemeClr val="tx1"/>
                </a:solidFill>
              </a:rPr>
              <a:t>Appointments</a:t>
            </a:r>
            <a:endParaRPr lang="en-US" sz="1800" dirty="0"/>
          </a:p>
        </p:txBody>
      </p:sp>
      <p:sp>
        <p:nvSpPr>
          <p:cNvPr id="51" name="Reports circle"/>
          <p:cNvSpPr/>
          <p:nvPr/>
        </p:nvSpPr>
        <p:spPr>
          <a:xfrm>
            <a:off x="7264908" y="3511296"/>
            <a:ext cx="585216" cy="585216"/>
          </a:xfrm>
          <a:prstGeom prst="ellipse">
            <a:avLst/>
          </a:prstGeom>
          <a:solidFill>
            <a:schemeClr val="accent1">
              <a:alpha val="12000"/>
            </a:schemeClr>
          </a:solidFill>
          <a:ln/>
        </p:spPr>
      </p:sp>
      <p:pic>
        <p:nvPicPr>
          <p:cNvPr id="52" name="Image 14" descr="Reports icon">    </p:cNvPr>
          <p:cNvPicPr>
            <a:picLocks noChangeAspect="1"/>
          </p:cNvPicPr>
          <p:nvPr/>
        </p:nvPicPr>
        <p:blipFill>
          <a:blip r:embed="rId15"/>
          <a:stretch>
            <a:fillRect/>
          </a:stretch>
        </p:blipFill>
        <p:spPr>
          <a:xfrm>
            <a:off x="7405360" y="3651748"/>
            <a:ext cx="304312" cy="304312"/>
          </a:xfrm>
          <a:prstGeom prst="rect">
            <a:avLst/>
          </a:prstGeom>
        </p:spPr>
      </p:pic>
      <p:sp>
        <p:nvSpPr>
          <p:cNvPr id="53" name="Reports"/>
          <p:cNvSpPr txBox="1"/>
          <p:nvPr/>
        </p:nvSpPr>
        <p:spPr>
          <a:xfrm>
            <a:off x="6688836" y="4169664"/>
            <a:ext cx="1737360" cy="310896"/>
          </a:xfrm>
          <a:prstGeom prst="rect">
            <a:avLst/>
          </a:prstGeom>
          <a:noFill/>
          <a:ln/>
        </p:spPr>
        <p:txBody>
          <a:bodyPr wrap="square" lIns="0" tIns="0" rIns="0" bIns="0" rtlCol="0" anchor="ctr"/>
          <a:lstStyle/>
          <a:p>
            <a:pPr algn="ctr" indent="0" marL="0">
              <a:buNone/>
            </a:pPr>
            <a:r>
              <a:rPr lang="en-US" sz="1800" dirty="0">
                <a:solidFill>
                  <a:schemeClr val="tx1"/>
                </a:solidFill>
              </a:rPr>
              <a:t>Reports</a:t>
            </a:r>
            <a:endParaRPr lang="en-US" sz="1800" dirty="0"/>
          </a:p>
        </p:txBody>
      </p:sp>
      <p:sp>
        <p:nvSpPr>
          <p:cNvPr id="54" name="Receptionist AI card"/>
          <p:cNvSpPr/>
          <p:nvPr/>
        </p:nvSpPr>
        <p:spPr>
          <a:xfrm>
            <a:off x="548640" y="5029200"/>
            <a:ext cx="11091672" cy="1280160"/>
          </a:xfrm>
          <a:prstGeom prst="roundRect">
            <a:avLst>
              <a:gd name="adj" fmla="val 11429"/>
            </a:avLst>
          </a:prstGeom>
          <a:solidFill>
            <a:schemeClr val="bg1"/>
          </a:solidFill>
          <a:ln w="9525">
            <a:solidFill>
              <a:srgbClr val="DCDCE1"/>
            </a:solidFill>
            <a:prstDash val="solid"/>
          </a:ln>
          <a:effectLst>
            <a:outerShdw sx="100000" sy="100000" kx="0" ky="0" algn="bl" rotWithShape="0" blurRad="152400" dist="25400" dir="5400000">
              <a:srgbClr val="000000">
                <a:alpha val="6000"/>
              </a:srgbClr>
            </a:outerShdw>
          </a:effectLst>
        </p:spPr>
      </p:sp>
      <p:sp>
        <p:nvSpPr>
          <p:cNvPr id="55" name="Receptionist AI circle"/>
          <p:cNvSpPr/>
          <p:nvPr/>
        </p:nvSpPr>
        <p:spPr>
          <a:xfrm>
            <a:off x="822960" y="5349240"/>
            <a:ext cx="640080" cy="640080"/>
          </a:xfrm>
          <a:prstGeom prst="ellipse">
            <a:avLst/>
          </a:prstGeom>
          <a:solidFill>
            <a:schemeClr val="accent3">
              <a:alpha val="14000"/>
            </a:schemeClr>
          </a:solidFill>
          <a:ln/>
        </p:spPr>
      </p:sp>
      <p:pic>
        <p:nvPicPr>
          <p:cNvPr id="56" name="Image 15" descr="Receptionist AI icon">    </p:cNvPr>
          <p:cNvPicPr>
            <a:picLocks noChangeAspect="1"/>
          </p:cNvPicPr>
          <p:nvPr/>
        </p:nvPicPr>
        <p:blipFill>
          <a:blip r:embed="rId16"/>
          <a:stretch>
            <a:fillRect/>
          </a:stretch>
        </p:blipFill>
        <p:spPr>
          <a:xfrm>
            <a:off x="976579" y="5502859"/>
            <a:ext cx="332842" cy="332842"/>
          </a:xfrm>
          <a:prstGeom prst="rect">
            <a:avLst/>
          </a:prstGeom>
        </p:spPr>
      </p:pic>
      <p:sp>
        <p:nvSpPr>
          <p:cNvPr id="57" name="Receptionist AI heading"/>
          <p:cNvSpPr txBox="1"/>
          <p:nvPr/>
        </p:nvSpPr>
        <p:spPr>
          <a:xfrm>
            <a:off x="1627632" y="5303520"/>
            <a:ext cx="2468880" cy="365760"/>
          </a:xfrm>
          <a:prstGeom prst="rect">
            <a:avLst/>
          </a:prstGeom>
          <a:noFill/>
          <a:ln/>
        </p:spPr>
        <p:txBody>
          <a:bodyPr wrap="square" lIns="0" tIns="0" rIns="0" bIns="0" rtlCol="0" anchor="ctr"/>
          <a:lstStyle/>
          <a:p>
            <a:pPr algn="l" indent="0" marL="0">
              <a:buNone/>
            </a:pPr>
            <a:r>
              <a:rPr lang="en-US" sz="2000" b="1" dirty="0">
                <a:solidFill>
                  <a:schemeClr val="tx1"/>
                </a:solidFill>
              </a:rPr>
              <a:t>Receptionist AI</a:t>
            </a:r>
            <a:endParaRPr lang="en-US" sz="2000" dirty="0"/>
          </a:p>
        </p:txBody>
      </p:sp>
      <p:sp>
        <p:nvSpPr>
          <p:cNvPr id="58" name="Example request"/>
          <p:cNvSpPr txBox="1"/>
          <p:nvPr/>
        </p:nvSpPr>
        <p:spPr>
          <a:xfrm>
            <a:off x="1627632" y="5687568"/>
            <a:ext cx="2468880" cy="329184"/>
          </a:xfrm>
          <a:prstGeom prst="rect">
            <a:avLst/>
          </a:prstGeom>
          <a:noFill/>
          <a:ln/>
        </p:spPr>
        <p:txBody>
          <a:bodyPr wrap="square" lIns="0" tIns="0" rIns="0" bIns="0" rtlCol="0" anchor="ctr"/>
          <a:lstStyle/>
          <a:p>
            <a:pPr algn="l" indent="0" marL="0">
              <a:buNone/>
            </a:pPr>
            <a:r>
              <a:rPr lang="en-US" sz="1800" i="1" dirty="0">
                <a:solidFill>
                  <a:schemeClr val="tx2"/>
                </a:solidFill>
              </a:rPr>
              <a:t>“Sell 3 pens to Priya”</a:t>
            </a:r>
            <a:endParaRPr lang="en-US" sz="1800" dirty="0"/>
          </a:p>
        </p:txBody>
      </p:sp>
      <p:sp>
        <p:nvSpPr>
          <p:cNvPr id="59" name="Step 1 badge"/>
          <p:cNvSpPr/>
          <p:nvPr/>
        </p:nvSpPr>
        <p:spPr>
          <a:xfrm>
            <a:off x="4526280" y="5440680"/>
            <a:ext cx="457200" cy="457200"/>
          </a:xfrm>
          <a:prstGeom prst="ellipse">
            <a:avLst/>
          </a:prstGeom>
          <a:solidFill>
            <a:schemeClr val="accent3"/>
          </a:solidFill>
          <a:ln/>
        </p:spPr>
      </p:sp>
      <p:sp>
        <p:nvSpPr>
          <p:cNvPr id="60" name="Step 1 number"/>
          <p:cNvSpPr txBox="1"/>
          <p:nvPr/>
        </p:nvSpPr>
        <p:spPr>
          <a:xfrm>
            <a:off x="4526280" y="5440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1" name="Step 1"/>
          <p:cNvSpPr txBox="1"/>
          <p:nvPr/>
        </p:nvSpPr>
        <p:spPr>
          <a:xfrm>
            <a:off x="5129784" y="5285232"/>
            <a:ext cx="1737360" cy="768096"/>
          </a:xfrm>
          <a:prstGeom prst="rect">
            <a:avLst/>
          </a:prstGeom>
          <a:noFill/>
          <a:ln/>
        </p:spPr>
        <p:txBody>
          <a:bodyPr wrap="square" lIns="0" tIns="0" rIns="0" bIns="0" rtlCol="0" anchor="ctr"/>
          <a:lstStyle/>
          <a:p>
            <a:pPr algn="l" indent="0" marL="0">
              <a:buNone/>
            </a:pPr>
            <a:r>
              <a:rPr lang="en-US" sz="1800" b="1" dirty="0">
                <a:solidFill>
                  <a:schemeClr val="tx1"/>
                </a:solidFill>
              </a:rPr>
              <a:t>You ask</a:t>
            </a:r>
            <a:endParaRPr lang="en-US" sz="1800" dirty="0"/>
          </a:p>
          <a:p>
            <a:pPr algn="l" indent="0" marL="0">
              <a:buNone/>
            </a:pPr>
            <a:r>
              <a:rPr lang="en-US" sz="1800" dirty="0">
                <a:solidFill>
                  <a:schemeClr val="tx2"/>
                </a:solidFill>
              </a:rPr>
              <a:t>in plain words</a:t>
            </a:r>
            <a:endParaRPr lang="en-US" sz="1800" dirty="0"/>
          </a:p>
        </p:txBody>
      </p:sp>
      <p:pic>
        <p:nvPicPr>
          <p:cNvPr id="62" name="Image 16" descr="then">    </p:cNvPr>
          <p:cNvPicPr>
            <a:picLocks noChangeAspect="1"/>
          </p:cNvPicPr>
          <p:nvPr/>
        </p:nvPicPr>
        <p:blipFill>
          <a:blip r:embed="rId17"/>
          <a:stretch>
            <a:fillRect/>
          </a:stretch>
        </p:blipFill>
        <p:spPr>
          <a:xfrm>
            <a:off x="6684264" y="5559552"/>
            <a:ext cx="219456" cy="219456"/>
          </a:xfrm>
          <a:prstGeom prst="rect">
            <a:avLst/>
          </a:prstGeom>
        </p:spPr>
      </p:pic>
      <p:sp>
        <p:nvSpPr>
          <p:cNvPr id="63" name="Step 2 badge"/>
          <p:cNvSpPr/>
          <p:nvPr/>
        </p:nvSpPr>
        <p:spPr>
          <a:xfrm>
            <a:off x="7104888" y="5440680"/>
            <a:ext cx="457200" cy="457200"/>
          </a:xfrm>
          <a:prstGeom prst="ellipse">
            <a:avLst/>
          </a:prstGeom>
          <a:solidFill>
            <a:schemeClr val="accent3"/>
          </a:solidFill>
          <a:ln/>
        </p:spPr>
      </p:sp>
      <p:sp>
        <p:nvSpPr>
          <p:cNvPr id="64" name="Step 2 number"/>
          <p:cNvSpPr txBox="1"/>
          <p:nvPr/>
        </p:nvSpPr>
        <p:spPr>
          <a:xfrm>
            <a:off x="7104888" y="5440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65" name="Step 2"/>
          <p:cNvSpPr txBox="1"/>
          <p:nvPr/>
        </p:nvSpPr>
        <p:spPr>
          <a:xfrm>
            <a:off x="7708392" y="5285232"/>
            <a:ext cx="1737360" cy="768096"/>
          </a:xfrm>
          <a:prstGeom prst="rect">
            <a:avLst/>
          </a:prstGeom>
          <a:noFill/>
          <a:ln/>
        </p:spPr>
        <p:txBody>
          <a:bodyPr wrap="square" lIns="0" tIns="0" rIns="0" bIns="0" rtlCol="0" anchor="ctr"/>
          <a:lstStyle/>
          <a:p>
            <a:pPr algn="l" indent="0" marL="0">
              <a:buNone/>
            </a:pPr>
            <a:r>
              <a:rPr lang="en-US" sz="1800" b="1" dirty="0">
                <a:solidFill>
                  <a:schemeClr val="tx1"/>
                </a:solidFill>
              </a:rPr>
              <a:t>It shows</a:t>
            </a:r>
            <a:endParaRPr lang="en-US" sz="1800" dirty="0"/>
          </a:p>
          <a:p>
            <a:pPr algn="l" indent="0" marL="0">
              <a:buNone/>
            </a:pPr>
            <a:r>
              <a:rPr lang="en-US" sz="1800" dirty="0">
                <a:solidFill>
                  <a:schemeClr val="tx2"/>
                </a:solidFill>
              </a:rPr>
              <a:t>the change</a:t>
            </a:r>
            <a:endParaRPr lang="en-US" sz="1800" dirty="0"/>
          </a:p>
        </p:txBody>
      </p:sp>
      <p:pic>
        <p:nvPicPr>
          <p:cNvPr id="66" name="Image 17" descr="then">    </p:cNvPr>
          <p:cNvPicPr>
            <a:picLocks noChangeAspect="1"/>
          </p:cNvPicPr>
          <p:nvPr/>
        </p:nvPicPr>
        <p:blipFill>
          <a:blip r:embed="rId18"/>
          <a:stretch>
            <a:fillRect/>
          </a:stretch>
        </p:blipFill>
        <p:spPr>
          <a:xfrm>
            <a:off x="8997696" y="5559552"/>
            <a:ext cx="219456" cy="219456"/>
          </a:xfrm>
          <a:prstGeom prst="rect">
            <a:avLst/>
          </a:prstGeom>
        </p:spPr>
      </p:pic>
      <p:sp>
        <p:nvSpPr>
          <p:cNvPr id="67" name="Step 3 badge"/>
          <p:cNvSpPr/>
          <p:nvPr/>
        </p:nvSpPr>
        <p:spPr>
          <a:xfrm>
            <a:off x="9418320" y="5440680"/>
            <a:ext cx="457200" cy="457200"/>
          </a:xfrm>
          <a:prstGeom prst="ellipse">
            <a:avLst/>
          </a:prstGeom>
          <a:solidFill>
            <a:schemeClr val="accent3"/>
          </a:solidFill>
          <a:ln/>
        </p:spPr>
      </p:sp>
      <p:sp>
        <p:nvSpPr>
          <p:cNvPr id="68" name="Step 3 number"/>
          <p:cNvSpPr txBox="1"/>
          <p:nvPr/>
        </p:nvSpPr>
        <p:spPr>
          <a:xfrm>
            <a:off x="9418320" y="544068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69" name="Step 3"/>
          <p:cNvSpPr txBox="1"/>
          <p:nvPr/>
        </p:nvSpPr>
        <p:spPr>
          <a:xfrm>
            <a:off x="10021824" y="5285232"/>
            <a:ext cx="1737360" cy="768096"/>
          </a:xfrm>
          <a:prstGeom prst="rect">
            <a:avLst/>
          </a:prstGeom>
          <a:noFill/>
          <a:ln/>
        </p:spPr>
        <p:txBody>
          <a:bodyPr wrap="square" lIns="0" tIns="0" rIns="0" bIns="0" rtlCol="0" anchor="ctr"/>
          <a:lstStyle/>
          <a:p>
            <a:pPr algn="l" indent="0" marL="0">
              <a:buNone/>
            </a:pPr>
            <a:r>
              <a:rPr lang="en-US" sz="1800" b="1" dirty="0">
                <a:solidFill>
                  <a:schemeClr val="tx1"/>
                </a:solidFill>
              </a:rPr>
              <a:t>You confirm</a:t>
            </a:r>
            <a:endParaRPr lang="en-US" sz="1800" dirty="0"/>
          </a:p>
          <a:p>
            <a:pPr algn="l" indent="0" marL="0">
              <a:buNone/>
            </a:pPr>
            <a:r>
              <a:rPr lang="en-US" sz="1800" dirty="0">
                <a:solidFill>
                  <a:schemeClr val="tx2"/>
                </a:solidFill>
              </a:rPr>
              <a:t>it is saved</a:t>
            </a:r>
            <a:endParaRPr lang="en-US" sz="1800" dirty="0"/>
          </a:p>
        </p:txBody>
      </p:sp>
    </p:spTree>
  </p:cSld>
  <p:clrMapOvr>
    <a:masterClrMapping/>
  </p:clrMapOvr>
</p:sld>
</file>

<file path=ppt/theme/theme1.xml><?xml version="1.0" encoding="utf-8"?>
<a:theme xmlns:a="http://schemas.openxmlformats.org/drawingml/2006/main" name="DocDesk">
  <a:themeElements>
    <a:clrScheme name="DocDesk">
      <a:dk1>
        <a:srgbClr val="1D1D1F"/>
      </a:dk1>
      <a:lt1>
        <a:srgbClr val="FFFFFF"/>
      </a:lt1>
      <a:dk2>
        <a:srgbClr val="6E6E73"/>
      </a:dk2>
      <a:lt2>
        <a:srgbClr val="F5F5F7"/>
      </a:lt2>
      <a:accent1>
        <a:srgbClr val="0071E3"/>
      </a:accent1>
      <a:accent2>
        <a:srgbClr val="248A3D"/>
      </a:accent2>
      <a:accent3>
        <a:srgbClr val="5E5CE6"/>
      </a:accent3>
      <a:accent4>
        <a:srgbClr val="8E8E93"/>
      </a:accent4>
      <a:accent5>
        <a:srgbClr val="B25000"/>
      </a:accent5>
      <a:accent6>
        <a:srgbClr val="D70015"/>
      </a:accent6>
      <a:hlink>
        <a:srgbClr val="0066CC"/>
      </a:hlink>
      <a:folHlink>
        <a:srgbClr val="5E5CE6"/>
      </a:folHlink>
    </a:clrScheme>
    <a:fontScheme name="DocDesk">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DocDesk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DocDesk overview</dc:title>
  <dc:subject>What DocDesk is and who it is for</dc:subject>
  <dc:creator>DocDesk</dc:creator>
  <cp:lastModifiedBy>DocDesk</cp:lastModifiedBy>
  <cp:revision>1</cp:revision>
  <dcterms:created xsi:type="dcterms:W3CDTF">2026-10-11T07:36:20Z</dcterms:created>
  <dcterms:modified xsi:type="dcterms:W3CDTF">2026-10-11T07:36:20Z</dcterms:modified>
</cp:coreProperties>
</file>